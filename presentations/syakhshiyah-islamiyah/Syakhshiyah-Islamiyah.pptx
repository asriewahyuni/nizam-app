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pembuka. Sampaikan salam, perkenalkan topik, dan bangun suasana tenang sebelum masuk ke inti kajian.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Coba kita jujur sama diri sendiri sebentar. Sholat lima waktu, alhamdulillah dijaga. Puasa Ramadan, dijalani. Zakat, ditunaikan. Kalau dilihat sekilas, rasanya kita sudah cukup pantas disebut muslim yang baik, ya? Tapi mari kita gali lebih dalam sedikit.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Tapi anehnya, kenapa kita masih sering insecure lihat standar hidup yang viral di media sosial? Kenapa kadang kita ikut arus pergaulan, padahal hati kecil sebenarnya ragu? Kalau ibadah kita udah jalan, kok masih ada yang terasa goyah?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Coba perhatikan lagi. Kita taat betul soal ibadah wajib. Tapi giliran soal uang, soal pergaulan, soal tontonan — standar yang kita pakai kadang bukan standar Islam, tapi standar kebanyakan orang di sekitar kita. Rajin ibadah pas Ramadan, tapi begitu Ramadan usai, standar sikap harian kita nggak banyak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kita telusuri kenapa ini bisa terjadi, jawabannya sampai pada satu titik: selama ini, banyak dari kita memahami agama sebagai sesuatu yang terpisah dari kehidupan sehari-hari. Agama itu urusan sholat dan puasa, sementara urusan uang, karier, pergaulan — dianggap ranah yang ‘netral’, bebas standar.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Jadi, ini bukan berarti ibadah kita kurang. Yang belum utuh adalah pemahaman bahwa Akidah Islam itu seharusnya jadi satu-satunya asas — bukan cuma untuk urusan ibadah, tapi untuk cara kita berpikir dan cara kita bersikap di semua lini kehidupan.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satu hal yang jarang kita sadari tentang diri kita sendiri: kita terbiasa mengukur seberapa ‘saleh’ diri kita hanya dari sisi ibadah ritual. Padahal, cara kita berpikir sehari-hari — soal uang, soal waktu, soal apa yang kita prioritaskan — itu jarang sekali kita evaluasi dengan standar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kedua datang dari luar. Kita sering terpapar konten motivasi atau self-improvement yang menawarkan gambaran ‘kepribadian ideal’ versi mereka sendiri. Kelihatannya masuk akal, relate, bahkan menginspirasi. Tapi kalau kita telisik, fondasinya bukan Akidah Islam — dan tanpa sadar, standar itu yang justru kita ikuti.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standar ganda ini dibiarkan, bukan berarti hidup langsung berantakan hari ini. Tapi ujian besar hidup — memilih karier, memilih jodoh, menghadapi tekanan sosial — akan menuntut keputusan yang jelas. Dan di saat itulah kepribadian yang fondasinya campuran akan terlihat rapuh, karena tidak punya satu standar yang kokoh untuk berpegang.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Jadi, mari kita jujur pada satu hal: kita bisa saja punya identitas sebagai muslim, tapi kalau standar berpikir dan sikap kita sehari-hari masih dipegang oleh selain Islam — itu bukan kepribadian Islam. Itu cuma numpang nama. (Beri jeda tenang di sini — momen paling penting dalam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Kabar baiknya, solusinya jelas dan sistematis. Ada dua pilar yang perlu dibangun: ‘Aqliyah Islamiyah — cara berpikir kita yang berlandaskan Akidah Islam. Dan Nafsiyah Islamiyah — cara kita bersikap, yang juga berlandaskan Akidah Islam yang sama. Dua-duanya harus berjalan beriringan.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Biar lebih jelas, ini contohnya. ‘Aqliyah Islamiyah itu, misalnya, ketika ditawari pekerjaan dengan gaji tinggi tapi mengandung unsur riba — orang dengan ‘aqliyah Islamiyah akan memutuskan itu haram, karena standar berpikirnya adalah Akidah Islam. Nafsiyah Islamiyah itu, misalnya, ketika lapar — dipenuhi dengan cara yang halal, bukan dengan cara yang melanggar aturan, karena ia terikat dengan standar Islam.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bukan konsep kosong. Diriwayatkan, begitu ayat pengharaman khamr turun, para sahabat langsung membuang minuman yang ada di tangan mereka saat itu juga — tanpa menunda, tanpa protes. Begitu juga wanita-wanita Anshar, begitu ayat hijab turun, mereka langsung merobek kain rumah untuk menutup aurat mereka. Itulah nafsiyah yang benar-benar terikat dengan Islam — bergerak seketika begitu ‘aqliyah menerima hukumnya. (Sampaikan tenang dan penuh penghayatan.)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Kerangka berpikir ini bukan sesuatu yang saya karang sendiri. Konsep ‘aqliyah dan nafsiyah ini dibahas secara sistematis dalam kitab Syakhshiyah Islamiyah karya Taqiyuddin an-Nabhani, dan sudah lama menjadi rujukan dalam kajian pembentukan kepribadian Islam.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Nggak perlu langsung sempurna. Mulai dari hal kecil aja — sebelum belanja, sebelum nonton sesuatu, sebelum ikut ajakan teman, biasakan tanya dulu ke diri sendiri: ‘ini boleh atau enggak menurut Islam?’ Dan jaga sholat tepat waktu, jangan ditunda-tunda — itu latihan nafsiyah paling dasar yang bisa kita mulai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Tapi hal kecil tadi juga perlu dirawat dalam jangka panjang. Ikutlah kajian yang sistematis tentang akidah dan hukum syara’, dan kalau bisa, gabung dalam halaqah atau pembinaan rutin. Karena membangun ‘aqliyah dan nafsiyah itu bukan proyek sendirian — butuh lingkungan yang saling menjaga dan mengingatkan.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Jadi, mari kita tutup dengan satu pertanyaan jujur untuk diri sendiri: selama ini, standar siapa yang sebenarnya kita pakai untuk berpikir dan bersikap? Malam ini, coba evaluasi ulang. Dan mulai hari ini, mari berkomitmen menjadikan Akidah Islam sebagai satu-satunya standar — bukan cuma dalam ibadah, tapi dalam setiap keputusan dan sikap kita. (Closing reflektif — beri waktu hening sejenak, bukan seperti ajakan jualan.)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01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title.png">    </p:cNvPr>
          <p:cNvPicPr>
            <a:picLocks noChangeAspect="1"/>
          </p:cNvPicPr>
          <p:nvPr/>
        </p:nvPicPr>
        <p:blipFill>
          <a:blip r:embed="rId1"/>
          <a:stretch>
            <a:fillRect/>
          </a:stretch>
        </p:blipFill>
        <p:spPr>
          <a:xfrm>
            <a:off x="5135728" y="502920"/>
            <a:ext cx="1920240" cy="1920240"/>
          </a:xfrm>
          <a:prstGeom prst="rect">
            <a:avLst/>
          </a:prstGeom>
        </p:spPr>
      </p:pic>
      <p:sp>
        <p:nvSpPr>
          <p:cNvPr id="15" name="Text 11"/>
          <p:cNvSpPr/>
          <p:nvPr/>
        </p:nvSpPr>
        <p:spPr>
          <a:xfrm>
            <a:off x="0" y="2514600"/>
            <a:ext cx="12191695" cy="320040"/>
          </a:xfrm>
          <a:prstGeom prst="rect">
            <a:avLst/>
          </a:prstGeom>
          <a:noFill/>
          <a:ln/>
        </p:spPr>
        <p:txBody>
          <a:bodyPr wrap="square" rtlCol="0" anchor="ctr"/>
          <a:lstStyle/>
          <a:p>
            <a:pPr algn="ctr" indent="0" marL="0">
              <a:buNone/>
            </a:pPr>
            <a:r>
              <a:rPr lang="en-US" sz="1300" spc="200" kern="0" dirty="0">
                <a:solidFill>
                  <a:srgbClr val="A8760F"/>
                </a:solidFill>
                <a:latin typeface="Calibri" pitchFamily="34" charset="0"/>
                <a:ea typeface="Calibri" pitchFamily="34" charset="-122"/>
                <a:cs typeface="Calibri" pitchFamily="34" charset="-120"/>
              </a:rPr>
              <a:t>KAJIAN KEPRIBADIAN ISLAM</a:t>
            </a:r>
            <a:endParaRPr lang="en-US" sz="1300" dirty="0"/>
          </a:p>
        </p:txBody>
      </p:sp>
      <p:sp>
        <p:nvSpPr>
          <p:cNvPr id="16" name="Text 12"/>
          <p:cNvSpPr/>
          <p:nvPr/>
        </p:nvSpPr>
        <p:spPr>
          <a:xfrm>
            <a:off x="731520" y="2834640"/>
            <a:ext cx="10728655" cy="1371600"/>
          </a:xfrm>
          <a:prstGeom prst="rect">
            <a:avLst/>
          </a:prstGeom>
          <a:noFill/>
          <a:ln/>
        </p:spPr>
        <p:txBody>
          <a:bodyPr wrap="square" rtlCol="0" anchor="t"/>
          <a:lstStyle/>
          <a:p>
            <a:pPr algn="ctr" indent="0" marL="0">
              <a:buNone/>
            </a:pPr>
            <a:r>
              <a:rPr lang="en-US" sz="4000" b="1" dirty="0">
                <a:solidFill>
                  <a:srgbClr val="2B2118"/>
                </a:solidFill>
                <a:latin typeface="Cambria" pitchFamily="34" charset="0"/>
                <a:ea typeface="Cambria" pitchFamily="34" charset="-122"/>
                <a:cs typeface="Cambria" pitchFamily="34" charset="-120"/>
              </a:rPr>
              <a:t>Syakhshiyah dan Syakhshiyah Islamiyyah</a:t>
            </a:r>
            <a:endParaRPr lang="en-US" sz="4000" dirty="0"/>
          </a:p>
        </p:txBody>
      </p:sp>
      <p:sp>
        <p:nvSpPr>
          <p:cNvPr id="17" name="Text 13"/>
          <p:cNvSpPr/>
          <p:nvPr/>
        </p:nvSpPr>
        <p:spPr>
          <a:xfrm>
            <a:off x="1280160" y="4160520"/>
            <a:ext cx="9631375" cy="822960"/>
          </a:xfrm>
          <a:prstGeom prst="rect">
            <a:avLst/>
          </a:prstGeom>
          <a:noFill/>
          <a:ln/>
        </p:spPr>
        <p:txBody>
          <a:bodyPr wrap="square" rtlCol="0" anchor="ctr"/>
          <a:lstStyle/>
          <a:p>
            <a:pPr algn="ctr" indent="0" marL="0">
              <a:buNone/>
            </a:pPr>
            <a:r>
              <a:rPr lang="en-US" sz="1800" i="1" dirty="0">
                <a:solidFill>
                  <a:srgbClr val="5C4D3C"/>
                </a:solidFill>
                <a:latin typeface="Cambria" pitchFamily="34" charset="0"/>
                <a:ea typeface="Cambria" pitchFamily="34" charset="-122"/>
                <a:cs typeface="Cambria" pitchFamily="34" charset="-120"/>
              </a:rPr>
              <a:t>Membangun ‘Aqliyah dan Nafsiyah yang Berdiri di Atas Satu Asas: Akidah Islam</a:t>
            </a:r>
            <a:endParaRPr lang="en-US" sz="1800" dirty="0"/>
          </a:p>
        </p:txBody>
      </p:sp>
      <p:sp>
        <p:nvSpPr>
          <p:cNvPr id="18" name="Text 14"/>
          <p:cNvSpPr/>
          <p:nvPr/>
        </p:nvSpPr>
        <p:spPr>
          <a:xfrm>
            <a:off x="0" y="5074920"/>
            <a:ext cx="12191695" cy="365760"/>
          </a:xfrm>
          <a:prstGeom prst="rect">
            <a:avLst/>
          </a:prstGeom>
          <a:noFill/>
          <a:ln/>
        </p:spPr>
        <p:txBody>
          <a:bodyPr wrap="square" rtlCol="0" anchor="ctr"/>
          <a:lstStyle/>
          <a:p>
            <a:pPr algn="ctr" indent="0" marL="0">
              <a:buNone/>
            </a:pPr>
            <a:r>
              <a:rPr lang="en-US" sz="1200" spc="150" kern="0" dirty="0">
                <a:solidFill>
                  <a:srgbClr val="8A5D10"/>
                </a:solidFill>
                <a:latin typeface="Calibri" pitchFamily="34" charset="0"/>
                <a:ea typeface="Calibri" pitchFamily="34" charset="-122"/>
                <a:cs typeface="Calibri" pitchFamily="34" charset="-120"/>
              </a:rPr>
              <a:t>KAJIAN / MAJELIS TAKLIM — REMAJA &amp; PEMUDA • ± 30–45 MENIT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02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1.png">    </p:cNvPr>
          <p:cNvPicPr>
            <a:picLocks noChangeAspect="1"/>
          </p:cNvPicPr>
          <p:nvPr/>
        </p:nvPicPr>
        <p:blipFill>
          <a:blip r:embed="rId1"/>
          <a:stretch>
            <a:fillRect/>
          </a:stretch>
        </p:blipFill>
        <p:spPr>
          <a:xfrm>
            <a:off x="640080" y="2148840"/>
            <a:ext cx="2834640" cy="2834640"/>
          </a:xfrm>
          <a:prstGeom prst="rect">
            <a:avLst/>
          </a:prstGeom>
        </p:spPr>
      </p:pic>
      <p:sp>
        <p:nvSpPr>
          <p:cNvPr id="15" name="Text 11"/>
          <p:cNvSpPr/>
          <p:nvPr/>
        </p:nvSpPr>
        <p:spPr>
          <a:xfrm>
            <a:off x="420624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01 — REALITA</a:t>
            </a:r>
            <a:endParaRPr lang="en-US" sz="1200" dirty="0"/>
          </a:p>
        </p:txBody>
      </p:sp>
      <p:sp>
        <p:nvSpPr>
          <p:cNvPr id="16" name="Text 12"/>
          <p:cNvSpPr/>
          <p:nvPr/>
        </p:nvSpPr>
        <p:spPr>
          <a:xfrm>
            <a:off x="4206240" y="950976"/>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Kita Semua Udah Ngerasa Cukup Islami</a:t>
            </a:r>
            <a:endParaRPr lang="en-US" sz="2800" dirty="0"/>
          </a:p>
        </p:txBody>
      </p:sp>
      <p:sp>
        <p:nvSpPr>
          <p:cNvPr id="17" name="Text 13"/>
          <p:cNvSpPr/>
          <p:nvPr/>
        </p:nvSpPr>
        <p:spPr>
          <a:xfrm>
            <a:off x="4206240" y="1911096"/>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Sholat lima waktu dijaga, puasa Ramadan dijalani, zakat ditunaikan.</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Secara sekilas, rasanya sudah cukup untuk disebut “muslim yang baik”.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03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2.png">    </p:cNvPr>
          <p:cNvPicPr>
            <a:picLocks noChangeAspect="1"/>
          </p:cNvPicPr>
          <p:nvPr/>
        </p:nvPicPr>
        <p:blipFill>
          <a:blip r:embed="rId1"/>
          <a:stretch>
            <a:fillRect/>
          </a:stretch>
        </p:blipFill>
        <p:spPr>
          <a:xfrm>
            <a:off x="8442655" y="2148840"/>
            <a:ext cx="2834640" cy="2834640"/>
          </a:xfrm>
          <a:prstGeom prst="rect">
            <a:avLst/>
          </a:prstGeom>
        </p:spPr>
      </p:pic>
      <p:sp>
        <p:nvSpPr>
          <p:cNvPr id="15" name="Text 11"/>
          <p:cNvSpPr/>
          <p:nvPr/>
        </p:nvSpPr>
        <p:spPr>
          <a:xfrm>
            <a:off x="64008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02 — PAIN</a:t>
            </a:r>
            <a:endParaRPr lang="en-US" sz="1200" dirty="0"/>
          </a:p>
        </p:txBody>
      </p:sp>
      <p:sp>
        <p:nvSpPr>
          <p:cNvPr id="16" name="Text 12"/>
          <p:cNvSpPr/>
          <p:nvPr/>
        </p:nvSpPr>
        <p:spPr>
          <a:xfrm>
            <a:off x="640080" y="950976"/>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Tapi Kok Masih Goyah?</a:t>
            </a:r>
            <a:endParaRPr lang="en-US" sz="2800" dirty="0"/>
          </a:p>
        </p:txBody>
      </p:sp>
      <p:sp>
        <p:nvSpPr>
          <p:cNvPr id="17" name="Text 13"/>
          <p:cNvSpPr/>
          <p:nvPr/>
        </p:nvSpPr>
        <p:spPr>
          <a:xfrm>
            <a:off x="640080" y="1911096"/>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Sering insecure melihat standar hidup yang viral di media sosial.</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Mudah ikut arus dalam pergaulan, meski hati kecil ragu.</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04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3.png">    </p:cNvPr>
          <p:cNvPicPr>
            <a:picLocks noChangeAspect="1"/>
          </p:cNvPicPr>
          <p:nvPr/>
        </p:nvPicPr>
        <p:blipFill>
          <a:blip r:embed="rId1"/>
          <a:stretch>
            <a:fillRect/>
          </a:stretch>
        </p:blipFill>
        <p:spPr>
          <a:xfrm>
            <a:off x="640080" y="2148840"/>
            <a:ext cx="2834640" cy="2834640"/>
          </a:xfrm>
          <a:prstGeom prst="rect">
            <a:avLst/>
          </a:prstGeom>
        </p:spPr>
      </p:pic>
      <p:sp>
        <p:nvSpPr>
          <p:cNvPr id="15" name="Text 11"/>
          <p:cNvSpPr/>
          <p:nvPr/>
        </p:nvSpPr>
        <p:spPr>
          <a:xfrm>
            <a:off x="420624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02 — PAIN</a:t>
            </a:r>
            <a:endParaRPr lang="en-US" sz="1200" dirty="0"/>
          </a:p>
        </p:txBody>
      </p:sp>
      <p:sp>
        <p:nvSpPr>
          <p:cNvPr id="16" name="Text 12"/>
          <p:cNvSpPr/>
          <p:nvPr/>
        </p:nvSpPr>
        <p:spPr>
          <a:xfrm>
            <a:off x="4206240" y="950976"/>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Bukti di Kesehariannya</a:t>
            </a:r>
            <a:endParaRPr lang="en-US" sz="2800" dirty="0"/>
          </a:p>
        </p:txBody>
      </p:sp>
      <p:sp>
        <p:nvSpPr>
          <p:cNvPr id="17" name="Shape 13"/>
          <p:cNvSpPr/>
          <p:nvPr/>
        </p:nvSpPr>
        <p:spPr>
          <a:xfrm>
            <a:off x="4206240" y="1911096"/>
            <a:ext cx="2651760" cy="914400"/>
          </a:xfrm>
          <a:prstGeom prst="roundRect">
            <a:avLst>
              <a:gd name="adj" fmla="val 6000"/>
            </a:avLst>
          </a:prstGeom>
          <a:solidFill>
            <a:srgbClr val="ECE0C8"/>
          </a:solidFill>
          <a:ln w="9525">
            <a:solidFill>
              <a:srgbClr val="D8C9A3"/>
            </a:solidFill>
            <a:prstDash val="solid"/>
          </a:ln>
        </p:spPr>
      </p:sp>
      <p:sp>
        <p:nvSpPr>
          <p:cNvPr id="18" name="Text 14"/>
          <p:cNvSpPr/>
          <p:nvPr/>
        </p:nvSpPr>
        <p:spPr>
          <a:xfrm>
            <a:off x="4407408" y="2039112"/>
            <a:ext cx="2249424" cy="274320"/>
          </a:xfrm>
          <a:prstGeom prst="rect">
            <a:avLst/>
          </a:prstGeom>
          <a:noFill/>
          <a:ln/>
        </p:spPr>
        <p:txBody>
          <a:bodyPr wrap="square" rtlCol="0" anchor="ctr"/>
          <a:lstStyle/>
          <a:p>
            <a:pPr indent="0" marL="0">
              <a:buNone/>
            </a:pPr>
            <a:r>
              <a:rPr lang="en-US" sz="1000" spc="100" kern="0" dirty="0">
                <a:solidFill>
                  <a:srgbClr val="5C4D3C"/>
                </a:solidFill>
                <a:latin typeface="Calibri" pitchFamily="34" charset="0"/>
                <a:ea typeface="Calibri" pitchFamily="34" charset="-122"/>
                <a:cs typeface="Calibri" pitchFamily="34" charset="-120"/>
              </a:rPr>
              <a:t>ASPEK IBADAH</a:t>
            </a:r>
            <a:endParaRPr lang="en-US" sz="1000" dirty="0"/>
          </a:p>
        </p:txBody>
      </p:sp>
      <p:sp>
        <p:nvSpPr>
          <p:cNvPr id="19" name="Text 15"/>
          <p:cNvSpPr/>
          <p:nvPr/>
        </p:nvSpPr>
        <p:spPr>
          <a:xfrm>
            <a:off x="4407408" y="2313432"/>
            <a:ext cx="2249424" cy="365760"/>
          </a:xfrm>
          <a:prstGeom prst="rect">
            <a:avLst/>
          </a:prstGeom>
          <a:noFill/>
          <a:ln/>
        </p:spPr>
        <p:txBody>
          <a:bodyPr wrap="square" rtlCol="0" anchor="t"/>
          <a:lstStyle/>
          <a:p>
            <a:pPr indent="0" marL="0">
              <a:buNone/>
            </a:pPr>
            <a:r>
              <a:rPr lang="en-US" sz="1700" b="1" dirty="0">
                <a:solidFill>
                  <a:srgbClr val="2B2118"/>
                </a:solidFill>
                <a:latin typeface="Cambria" pitchFamily="34" charset="0"/>
                <a:ea typeface="Cambria" pitchFamily="34" charset="-122"/>
                <a:cs typeface="Cambria" pitchFamily="34" charset="-120"/>
              </a:rPr>
              <a:t>Taat</a:t>
            </a:r>
            <a:endParaRPr lang="en-US" sz="1700" dirty="0"/>
          </a:p>
        </p:txBody>
      </p:sp>
      <p:sp>
        <p:nvSpPr>
          <p:cNvPr id="20" name="Text 16"/>
          <p:cNvSpPr/>
          <p:nvPr/>
        </p:nvSpPr>
        <p:spPr>
          <a:xfrm>
            <a:off x="6858000" y="2185416"/>
            <a:ext cx="457200" cy="365760"/>
          </a:xfrm>
          <a:prstGeom prst="rect">
            <a:avLst/>
          </a:prstGeom>
          <a:noFill/>
          <a:ln/>
        </p:spPr>
        <p:txBody>
          <a:bodyPr wrap="square" rtlCol="0" anchor="ctr"/>
          <a:lstStyle/>
          <a:p>
            <a:pPr algn="ctr" indent="0" marL="0">
              <a:buNone/>
            </a:pPr>
            <a:r>
              <a:rPr lang="en-US" sz="1400" i="1" dirty="0">
                <a:solidFill>
                  <a:srgbClr val="8A5D10"/>
                </a:solidFill>
                <a:latin typeface="Cambria" pitchFamily="34" charset="0"/>
                <a:ea typeface="Cambria" pitchFamily="34" charset="-122"/>
                <a:cs typeface="Cambria" pitchFamily="34" charset="-120"/>
              </a:rPr>
              <a:t>vs</a:t>
            </a:r>
            <a:endParaRPr lang="en-US" sz="1400" dirty="0"/>
          </a:p>
        </p:txBody>
      </p:sp>
      <p:sp>
        <p:nvSpPr>
          <p:cNvPr id="21" name="Shape 17"/>
          <p:cNvSpPr/>
          <p:nvPr/>
        </p:nvSpPr>
        <p:spPr>
          <a:xfrm>
            <a:off x="7315200" y="1911096"/>
            <a:ext cx="2651760" cy="914400"/>
          </a:xfrm>
          <a:prstGeom prst="roundRect">
            <a:avLst>
              <a:gd name="adj" fmla="val 6000"/>
            </a:avLst>
          </a:prstGeom>
          <a:solidFill>
            <a:srgbClr val="E4EAE3"/>
          </a:solidFill>
          <a:ln w="9525">
            <a:solidFill>
              <a:srgbClr val="D8C9A3"/>
            </a:solidFill>
            <a:prstDash val="solid"/>
          </a:ln>
        </p:spPr>
      </p:sp>
      <p:sp>
        <p:nvSpPr>
          <p:cNvPr id="22" name="Text 18"/>
          <p:cNvSpPr/>
          <p:nvPr/>
        </p:nvSpPr>
        <p:spPr>
          <a:xfrm>
            <a:off x="7516368" y="2039112"/>
            <a:ext cx="2249424" cy="274320"/>
          </a:xfrm>
          <a:prstGeom prst="rect">
            <a:avLst/>
          </a:prstGeom>
          <a:noFill/>
          <a:ln/>
        </p:spPr>
        <p:txBody>
          <a:bodyPr wrap="square" rtlCol="0" anchor="ctr"/>
          <a:lstStyle/>
          <a:p>
            <a:pPr indent="0" marL="0">
              <a:buNone/>
            </a:pPr>
            <a:r>
              <a:rPr lang="en-US" sz="1000" spc="100" kern="0" dirty="0">
                <a:solidFill>
                  <a:srgbClr val="5C4D3C"/>
                </a:solidFill>
                <a:latin typeface="Calibri" pitchFamily="34" charset="0"/>
                <a:ea typeface="Calibri" pitchFamily="34" charset="-122"/>
                <a:cs typeface="Calibri" pitchFamily="34" charset="-120"/>
              </a:rPr>
              <a:t>ASPEK KESEHARIAN</a:t>
            </a:r>
            <a:endParaRPr lang="en-US" sz="1000" dirty="0"/>
          </a:p>
        </p:txBody>
      </p:sp>
      <p:sp>
        <p:nvSpPr>
          <p:cNvPr id="23" name="Text 19"/>
          <p:cNvSpPr/>
          <p:nvPr/>
        </p:nvSpPr>
        <p:spPr>
          <a:xfrm>
            <a:off x="7516368" y="2313432"/>
            <a:ext cx="2249424" cy="365760"/>
          </a:xfrm>
          <a:prstGeom prst="rect">
            <a:avLst/>
          </a:prstGeom>
          <a:noFill/>
          <a:ln/>
        </p:spPr>
        <p:txBody>
          <a:bodyPr wrap="square" rtlCol="0" anchor="t"/>
          <a:lstStyle/>
          <a:p>
            <a:pPr indent="0" marL="0">
              <a:buNone/>
            </a:pPr>
            <a:r>
              <a:rPr lang="en-US" sz="1700" b="1" dirty="0">
                <a:solidFill>
                  <a:srgbClr val="0F4C3A"/>
                </a:solidFill>
                <a:latin typeface="Cambria" pitchFamily="34" charset="0"/>
                <a:ea typeface="Cambria" pitchFamily="34" charset="-122"/>
                <a:cs typeface="Cambria" pitchFamily="34" charset="-120"/>
              </a:rPr>
              <a:t>Standar Umum</a:t>
            </a:r>
            <a:endParaRPr lang="en-US" sz="1700" dirty="0"/>
          </a:p>
        </p:txBody>
      </p:sp>
      <p:sp>
        <p:nvSpPr>
          <p:cNvPr id="24" name="Text 20"/>
          <p:cNvSpPr/>
          <p:nvPr/>
        </p:nvSpPr>
        <p:spPr>
          <a:xfrm>
            <a:off x="4206240" y="3145536"/>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Taat soal ibadah wajib, tapi standar uang, pergaulan, dan hiburan masih ikut kebiasaan umum.</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Rajin ibadah di bulan tertentu (Ramadan), standar sikap harian tidak banyak berubah.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05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sp>
        <p:nvSpPr>
          <p:cNvPr id="14" name="Text 11"/>
          <p:cNvSpPr/>
          <p:nvPr/>
        </p:nvSpPr>
        <p:spPr>
          <a:xfrm>
            <a:off x="0" y="566928"/>
            <a:ext cx="12191695" cy="320040"/>
          </a:xfrm>
          <a:prstGeom prst="rect">
            <a:avLst/>
          </a:prstGeom>
          <a:noFill/>
          <a:ln/>
        </p:spPr>
        <p:txBody>
          <a:bodyPr wrap="square" rtlCol="0" anchor="ctr"/>
          <a:lstStyle/>
          <a:p>
            <a:pPr algn="ctr" indent="0" marL="0">
              <a:buNone/>
            </a:pPr>
            <a:r>
              <a:rPr lang="en-US" sz="1200" b="1" spc="200" kern="0" dirty="0">
                <a:solidFill>
                  <a:srgbClr val="A8760F"/>
                </a:solidFill>
                <a:latin typeface="Calibri" pitchFamily="34" charset="0"/>
                <a:ea typeface="Calibri" pitchFamily="34" charset="-122"/>
                <a:cs typeface="Calibri" pitchFamily="34" charset="-120"/>
              </a:rPr>
              <a:t>03 — ROOT CAUSE</a:t>
            </a:r>
            <a:endParaRPr lang="en-US" sz="1200" dirty="0"/>
          </a:p>
        </p:txBody>
      </p:sp>
      <p:sp>
        <p:nvSpPr>
          <p:cNvPr id="15" name="Text 12"/>
          <p:cNvSpPr/>
          <p:nvPr/>
        </p:nvSpPr>
        <p:spPr>
          <a:xfrm>
            <a:off x="914400" y="960120"/>
            <a:ext cx="10362895" cy="822960"/>
          </a:xfrm>
          <a:prstGeom prst="rect">
            <a:avLst/>
          </a:prstGeom>
          <a:noFill/>
          <a:ln/>
        </p:spPr>
        <p:txBody>
          <a:bodyPr wrap="square" rtlCol="0" anchor="ctr"/>
          <a:lstStyle/>
          <a:p>
            <a:pPr algn="ctr" indent="0" marL="0">
              <a:buNone/>
            </a:pPr>
            <a:r>
              <a:rPr lang="en-US" sz="3000" b="1" dirty="0">
                <a:solidFill>
                  <a:srgbClr val="2B2118"/>
                </a:solidFill>
                <a:latin typeface="Cambria" pitchFamily="34" charset="0"/>
                <a:ea typeface="Cambria" pitchFamily="34" charset="-122"/>
                <a:cs typeface="Cambria" pitchFamily="34" charset="-120"/>
              </a:rPr>
              <a:t>Kenapa Ini Bisa Terjadi?</a:t>
            </a:r>
            <a:endParaRPr lang="en-US" sz="3000" dirty="0"/>
          </a:p>
        </p:txBody>
      </p:sp>
      <p:sp>
        <p:nvSpPr>
          <p:cNvPr id="16" name="Shape 13"/>
          <p:cNvSpPr/>
          <p:nvPr/>
        </p:nvSpPr>
        <p:spPr>
          <a:xfrm>
            <a:off x="3063240" y="2057400"/>
            <a:ext cx="384048" cy="384048"/>
          </a:xfrm>
          <a:prstGeom prst="ellipse">
            <a:avLst/>
          </a:prstGeom>
          <a:solidFill>
            <a:srgbClr val="F4ECDC"/>
          </a:solidFill>
          <a:ln w="19050">
            <a:solidFill>
              <a:srgbClr val="8A5D10"/>
            </a:solidFill>
            <a:prstDash val="solid"/>
          </a:ln>
        </p:spPr>
      </p:sp>
      <p:sp>
        <p:nvSpPr>
          <p:cNvPr id="17" name="Text 14"/>
          <p:cNvSpPr/>
          <p:nvPr/>
        </p:nvSpPr>
        <p:spPr>
          <a:xfrm>
            <a:off x="3063240" y="2057400"/>
            <a:ext cx="384048" cy="384048"/>
          </a:xfrm>
          <a:prstGeom prst="rect">
            <a:avLst/>
          </a:prstGeom>
          <a:noFill/>
          <a:ln/>
        </p:spPr>
        <p:txBody>
          <a:bodyPr wrap="square" rtlCol="0" anchor="ctr"/>
          <a:lstStyle/>
          <a:p>
            <a:pPr algn="ctr" indent="0" marL="0">
              <a:buNone/>
            </a:pPr>
            <a:r>
              <a:rPr lang="en-US" sz="1400" b="1" dirty="0">
                <a:solidFill>
                  <a:srgbClr val="8A5D10"/>
                </a:solidFill>
                <a:latin typeface="Cambria" pitchFamily="34" charset="0"/>
                <a:ea typeface="Cambria" pitchFamily="34" charset="-122"/>
                <a:cs typeface="Cambria" pitchFamily="34" charset="-120"/>
              </a:rPr>
              <a:t>1</a:t>
            </a:r>
            <a:endParaRPr lang="en-US" sz="1400" dirty="0"/>
          </a:p>
        </p:txBody>
      </p:sp>
      <p:sp>
        <p:nvSpPr>
          <p:cNvPr id="18" name="Text 15"/>
          <p:cNvSpPr/>
          <p:nvPr/>
        </p:nvSpPr>
        <p:spPr>
          <a:xfrm>
            <a:off x="3611880" y="2039112"/>
            <a:ext cx="5394960" cy="502920"/>
          </a:xfrm>
          <a:prstGeom prst="rect">
            <a:avLst/>
          </a:prstGeom>
          <a:noFill/>
          <a:ln/>
        </p:spPr>
        <p:txBody>
          <a:bodyPr wrap="square" rtlCol="0" anchor="ctr"/>
          <a:lstStyle/>
          <a:p>
            <a:pPr indent="0" marL="0">
              <a:buNone/>
            </a:pPr>
            <a:r>
              <a:rPr lang="en-US" sz="1500" dirty="0">
                <a:solidFill>
                  <a:srgbClr val="5C4D3C"/>
                </a:solidFill>
                <a:latin typeface="Calibri" pitchFamily="34" charset="0"/>
                <a:ea typeface="Calibri" pitchFamily="34" charset="-122"/>
                <a:cs typeface="Calibri" pitchFamily="34" charset="-120"/>
              </a:rPr>
              <a:t>Merasa cukup dengan identitas + ibadah ritual saja</a:t>
            </a:r>
            <a:endParaRPr lang="en-US" sz="1500" dirty="0"/>
          </a:p>
        </p:txBody>
      </p:sp>
      <p:sp>
        <p:nvSpPr>
          <p:cNvPr id="19" name="Shape 16"/>
          <p:cNvSpPr/>
          <p:nvPr/>
        </p:nvSpPr>
        <p:spPr>
          <a:xfrm>
            <a:off x="3063240" y="2715768"/>
            <a:ext cx="384048" cy="384048"/>
          </a:xfrm>
          <a:prstGeom prst="ellipse">
            <a:avLst/>
          </a:prstGeom>
          <a:solidFill>
            <a:srgbClr val="F4ECDC"/>
          </a:solidFill>
          <a:ln w="19050">
            <a:solidFill>
              <a:srgbClr val="8A5D10"/>
            </a:solidFill>
            <a:prstDash val="solid"/>
          </a:ln>
        </p:spPr>
      </p:sp>
      <p:sp>
        <p:nvSpPr>
          <p:cNvPr id="20" name="Text 17"/>
          <p:cNvSpPr/>
          <p:nvPr/>
        </p:nvSpPr>
        <p:spPr>
          <a:xfrm>
            <a:off x="3063240" y="2715768"/>
            <a:ext cx="384048" cy="384048"/>
          </a:xfrm>
          <a:prstGeom prst="rect">
            <a:avLst/>
          </a:prstGeom>
          <a:noFill/>
          <a:ln/>
        </p:spPr>
        <p:txBody>
          <a:bodyPr wrap="square" rtlCol="0" anchor="ctr"/>
          <a:lstStyle/>
          <a:p>
            <a:pPr algn="ctr" indent="0" marL="0">
              <a:buNone/>
            </a:pPr>
            <a:r>
              <a:rPr lang="en-US" sz="1400" b="1" dirty="0">
                <a:solidFill>
                  <a:srgbClr val="8A5D10"/>
                </a:solidFill>
                <a:latin typeface="Cambria" pitchFamily="34" charset="0"/>
                <a:ea typeface="Cambria" pitchFamily="34" charset="-122"/>
                <a:cs typeface="Cambria" pitchFamily="34" charset="-120"/>
              </a:rPr>
              <a:t>2</a:t>
            </a:r>
            <a:endParaRPr lang="en-US" sz="1400" dirty="0"/>
          </a:p>
        </p:txBody>
      </p:sp>
      <p:sp>
        <p:nvSpPr>
          <p:cNvPr id="21" name="Text 18"/>
          <p:cNvSpPr/>
          <p:nvPr/>
        </p:nvSpPr>
        <p:spPr>
          <a:xfrm>
            <a:off x="3611880" y="2697480"/>
            <a:ext cx="5394960" cy="502920"/>
          </a:xfrm>
          <a:prstGeom prst="rect">
            <a:avLst/>
          </a:prstGeom>
          <a:noFill/>
          <a:ln/>
        </p:spPr>
        <p:txBody>
          <a:bodyPr wrap="square" rtlCol="0" anchor="ctr"/>
          <a:lstStyle/>
          <a:p>
            <a:pPr indent="0" marL="0">
              <a:buNone/>
            </a:pPr>
            <a:r>
              <a:rPr lang="en-US" sz="1500" dirty="0">
                <a:solidFill>
                  <a:srgbClr val="5C4D3C"/>
                </a:solidFill>
                <a:latin typeface="Calibri" pitchFamily="34" charset="0"/>
                <a:ea typeface="Calibri" pitchFamily="34" charset="-122"/>
                <a:cs typeface="Calibri" pitchFamily="34" charset="-120"/>
              </a:rPr>
              <a:t>Pemahaman agama terpisah dari kehidupan sehari-hari</a:t>
            </a:r>
            <a:endParaRPr lang="en-US" sz="1500" dirty="0"/>
          </a:p>
        </p:txBody>
      </p:sp>
      <p:sp>
        <p:nvSpPr>
          <p:cNvPr id="22" name="Shape 19"/>
          <p:cNvSpPr/>
          <p:nvPr/>
        </p:nvSpPr>
        <p:spPr>
          <a:xfrm>
            <a:off x="3063240" y="3374136"/>
            <a:ext cx="384048" cy="384048"/>
          </a:xfrm>
          <a:prstGeom prst="ellipse">
            <a:avLst/>
          </a:prstGeom>
          <a:solidFill>
            <a:srgbClr val="F4ECDC"/>
          </a:solidFill>
          <a:ln w="19050">
            <a:solidFill>
              <a:srgbClr val="8A5D10"/>
            </a:solidFill>
            <a:prstDash val="solid"/>
          </a:ln>
        </p:spPr>
      </p:sp>
      <p:sp>
        <p:nvSpPr>
          <p:cNvPr id="23" name="Text 20"/>
          <p:cNvSpPr/>
          <p:nvPr/>
        </p:nvSpPr>
        <p:spPr>
          <a:xfrm>
            <a:off x="3063240" y="3374136"/>
            <a:ext cx="384048" cy="384048"/>
          </a:xfrm>
          <a:prstGeom prst="rect">
            <a:avLst/>
          </a:prstGeom>
          <a:noFill/>
          <a:ln/>
        </p:spPr>
        <p:txBody>
          <a:bodyPr wrap="square" rtlCol="0" anchor="ctr"/>
          <a:lstStyle/>
          <a:p>
            <a:pPr algn="ctr" indent="0" marL="0">
              <a:buNone/>
            </a:pPr>
            <a:r>
              <a:rPr lang="en-US" sz="1400" b="1" dirty="0">
                <a:solidFill>
                  <a:srgbClr val="8A5D10"/>
                </a:solidFill>
                <a:latin typeface="Cambria" pitchFamily="34" charset="0"/>
                <a:ea typeface="Cambria" pitchFamily="34" charset="-122"/>
                <a:cs typeface="Cambria" pitchFamily="34" charset="-120"/>
              </a:rPr>
              <a:t>3</a:t>
            </a:r>
            <a:endParaRPr lang="en-US" sz="1400" dirty="0"/>
          </a:p>
        </p:txBody>
      </p:sp>
      <p:sp>
        <p:nvSpPr>
          <p:cNvPr id="24" name="Text 21"/>
          <p:cNvSpPr/>
          <p:nvPr/>
        </p:nvSpPr>
        <p:spPr>
          <a:xfrm>
            <a:off x="3611880" y="3355848"/>
            <a:ext cx="5394960" cy="502920"/>
          </a:xfrm>
          <a:prstGeom prst="rect">
            <a:avLst/>
          </a:prstGeom>
          <a:noFill/>
          <a:ln/>
        </p:spPr>
        <p:txBody>
          <a:bodyPr wrap="square" rtlCol="0" anchor="ctr"/>
          <a:lstStyle/>
          <a:p>
            <a:pPr indent="0" marL="0">
              <a:buNone/>
            </a:pPr>
            <a:r>
              <a:rPr lang="en-US" sz="1500" dirty="0">
                <a:solidFill>
                  <a:srgbClr val="5C4D3C"/>
                </a:solidFill>
                <a:latin typeface="Calibri" pitchFamily="34" charset="0"/>
                <a:ea typeface="Calibri" pitchFamily="34" charset="-122"/>
                <a:cs typeface="Calibri" pitchFamily="34" charset="-120"/>
              </a:rPr>
              <a:t>Pengajaran agama fokus fiqih ibadah ritual</a:t>
            </a:r>
            <a:endParaRPr lang="en-US" sz="1500" dirty="0"/>
          </a:p>
        </p:txBody>
      </p:sp>
      <p:sp>
        <p:nvSpPr>
          <p:cNvPr id="25" name="Shape 22"/>
          <p:cNvSpPr/>
          <p:nvPr/>
        </p:nvSpPr>
        <p:spPr>
          <a:xfrm>
            <a:off x="3063240" y="4032504"/>
            <a:ext cx="384048" cy="384048"/>
          </a:xfrm>
          <a:prstGeom prst="ellipse">
            <a:avLst/>
          </a:prstGeom>
          <a:solidFill>
            <a:srgbClr val="F4ECDC"/>
          </a:solidFill>
          <a:ln w="19050">
            <a:solidFill>
              <a:srgbClr val="8A5D10"/>
            </a:solidFill>
            <a:prstDash val="solid"/>
          </a:ln>
        </p:spPr>
      </p:sp>
      <p:sp>
        <p:nvSpPr>
          <p:cNvPr id="26" name="Text 23"/>
          <p:cNvSpPr/>
          <p:nvPr/>
        </p:nvSpPr>
        <p:spPr>
          <a:xfrm>
            <a:off x="3063240" y="4032504"/>
            <a:ext cx="384048" cy="384048"/>
          </a:xfrm>
          <a:prstGeom prst="rect">
            <a:avLst/>
          </a:prstGeom>
          <a:noFill/>
          <a:ln/>
        </p:spPr>
        <p:txBody>
          <a:bodyPr wrap="square" rtlCol="0" anchor="ctr"/>
          <a:lstStyle/>
          <a:p>
            <a:pPr algn="ctr" indent="0" marL="0">
              <a:buNone/>
            </a:pPr>
            <a:r>
              <a:rPr lang="en-US" sz="1400" b="1" dirty="0">
                <a:solidFill>
                  <a:srgbClr val="8A5D10"/>
                </a:solidFill>
                <a:latin typeface="Cambria" pitchFamily="34" charset="0"/>
                <a:ea typeface="Cambria" pitchFamily="34" charset="-122"/>
                <a:cs typeface="Cambria" pitchFamily="34" charset="-120"/>
              </a:rPr>
              <a:t>4</a:t>
            </a:r>
            <a:endParaRPr lang="en-US" sz="1400" dirty="0"/>
          </a:p>
        </p:txBody>
      </p:sp>
      <p:sp>
        <p:nvSpPr>
          <p:cNvPr id="27" name="Text 24"/>
          <p:cNvSpPr/>
          <p:nvPr/>
        </p:nvSpPr>
        <p:spPr>
          <a:xfrm>
            <a:off x="3611880" y="4014216"/>
            <a:ext cx="5394960" cy="502920"/>
          </a:xfrm>
          <a:prstGeom prst="rect">
            <a:avLst/>
          </a:prstGeom>
          <a:noFill/>
          <a:ln/>
        </p:spPr>
        <p:txBody>
          <a:bodyPr wrap="square" rtlCol="0" anchor="ctr"/>
          <a:lstStyle/>
          <a:p>
            <a:pPr indent="0" marL="0">
              <a:buNone/>
            </a:pPr>
            <a:r>
              <a:rPr lang="en-US" sz="1500" dirty="0">
                <a:solidFill>
                  <a:srgbClr val="5C4D3C"/>
                </a:solidFill>
                <a:latin typeface="Calibri" pitchFamily="34" charset="0"/>
                <a:ea typeface="Calibri" pitchFamily="34" charset="-122"/>
                <a:cs typeface="Calibri" pitchFamily="34" charset="-120"/>
              </a:rPr>
              <a:t>Terpengaruh cara pandang agama sebagai ranah privat-ritual</a:t>
            </a:r>
            <a:endParaRPr lang="en-US" sz="1500" dirty="0"/>
          </a:p>
        </p:txBody>
      </p:sp>
      <p:sp>
        <p:nvSpPr>
          <p:cNvPr id="28" name="Shape 25"/>
          <p:cNvSpPr/>
          <p:nvPr/>
        </p:nvSpPr>
        <p:spPr>
          <a:xfrm>
            <a:off x="2926080" y="4636008"/>
            <a:ext cx="6309360" cy="566928"/>
          </a:xfrm>
          <a:prstGeom prst="roundRect">
            <a:avLst>
              <a:gd name="adj" fmla="val 9677"/>
            </a:avLst>
          </a:prstGeom>
          <a:solidFill>
            <a:srgbClr val="EFE4CC"/>
          </a:solidFill>
          <a:ln/>
        </p:spPr>
      </p:sp>
      <p:sp>
        <p:nvSpPr>
          <p:cNvPr id="29" name="Shape 26"/>
          <p:cNvSpPr/>
          <p:nvPr/>
        </p:nvSpPr>
        <p:spPr>
          <a:xfrm>
            <a:off x="3063240" y="4690872"/>
            <a:ext cx="384048" cy="384048"/>
          </a:xfrm>
          <a:prstGeom prst="ellipse">
            <a:avLst/>
          </a:prstGeom>
          <a:solidFill>
            <a:srgbClr val="8A5D10"/>
          </a:solidFill>
          <a:ln w="19050">
            <a:solidFill>
              <a:srgbClr val="8A5D10"/>
            </a:solidFill>
            <a:prstDash val="solid"/>
          </a:ln>
        </p:spPr>
      </p:sp>
      <p:sp>
        <p:nvSpPr>
          <p:cNvPr id="30" name="Text 27"/>
          <p:cNvSpPr/>
          <p:nvPr/>
        </p:nvSpPr>
        <p:spPr>
          <a:xfrm>
            <a:off x="3063240" y="4690872"/>
            <a:ext cx="384048" cy="384048"/>
          </a:xfrm>
          <a:prstGeom prst="rect">
            <a:avLst/>
          </a:prstGeom>
          <a:noFill/>
          <a:ln/>
        </p:spPr>
        <p:txBody>
          <a:bodyPr wrap="square" rtlCol="0" anchor="ctr"/>
          <a:lstStyle/>
          <a:p>
            <a:pPr algn="ctr" indent="0" marL="0">
              <a:buNone/>
            </a:pPr>
            <a:r>
              <a:rPr lang="en-US" sz="1400" b="1" dirty="0">
                <a:solidFill>
                  <a:srgbClr val="F4ECDC"/>
                </a:solidFill>
                <a:latin typeface="Cambria" pitchFamily="34" charset="0"/>
                <a:ea typeface="Cambria" pitchFamily="34" charset="-122"/>
                <a:cs typeface="Cambria" pitchFamily="34" charset="-120"/>
              </a:rPr>
              <a:t>5</a:t>
            </a:r>
            <a:endParaRPr lang="en-US" sz="1400" dirty="0"/>
          </a:p>
        </p:txBody>
      </p:sp>
      <p:sp>
        <p:nvSpPr>
          <p:cNvPr id="31" name="Text 28"/>
          <p:cNvSpPr/>
          <p:nvPr/>
        </p:nvSpPr>
        <p:spPr>
          <a:xfrm>
            <a:off x="3611880" y="4672584"/>
            <a:ext cx="5394960" cy="502920"/>
          </a:xfrm>
          <a:prstGeom prst="rect">
            <a:avLst/>
          </a:prstGeom>
          <a:noFill/>
          <a:ln/>
        </p:spPr>
        <p:txBody>
          <a:bodyPr wrap="square" rtlCol="0" anchor="ctr"/>
          <a:lstStyle/>
          <a:p>
            <a:pPr indent="0" marL="0">
              <a:buNone/>
            </a:pPr>
            <a:r>
              <a:rPr lang="en-US" sz="1500" b="1" dirty="0">
                <a:solidFill>
                  <a:srgbClr val="2B2118"/>
                </a:solidFill>
                <a:latin typeface="Calibri" pitchFamily="34" charset="0"/>
                <a:ea typeface="Calibri" pitchFamily="34" charset="-122"/>
                <a:cs typeface="Calibri" pitchFamily="34" charset="-120"/>
              </a:rPr>
              <a:t>Tak pernah diajarkan: Akidah Islam harus jadi satu-satunya asas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06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5.png">    </p:cNvPr>
          <p:cNvPicPr>
            <a:picLocks noChangeAspect="1"/>
          </p:cNvPicPr>
          <p:nvPr/>
        </p:nvPicPr>
        <p:blipFill>
          <a:blip r:embed="rId1"/>
          <a:stretch>
            <a:fillRect/>
          </a:stretch>
        </p:blipFill>
        <p:spPr>
          <a:xfrm>
            <a:off x="640080" y="2148840"/>
            <a:ext cx="2834640" cy="2834640"/>
          </a:xfrm>
          <a:prstGeom prst="rect">
            <a:avLst/>
          </a:prstGeom>
        </p:spPr>
      </p:pic>
      <p:sp>
        <p:nvSpPr>
          <p:cNvPr id="15" name="Text 11"/>
          <p:cNvSpPr/>
          <p:nvPr/>
        </p:nvSpPr>
        <p:spPr>
          <a:xfrm>
            <a:off x="420624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03 — ROOT CAUSE</a:t>
            </a:r>
            <a:endParaRPr lang="en-US" sz="1200" dirty="0"/>
          </a:p>
        </p:txBody>
      </p:sp>
      <p:sp>
        <p:nvSpPr>
          <p:cNvPr id="16" name="Text 12"/>
          <p:cNvSpPr/>
          <p:nvPr/>
        </p:nvSpPr>
        <p:spPr>
          <a:xfrm>
            <a:off x="4206240" y="950976"/>
            <a:ext cx="6309360" cy="1280160"/>
          </a:xfrm>
          <a:prstGeom prst="rect">
            <a:avLst/>
          </a:prstGeom>
          <a:noFill/>
          <a:ln/>
        </p:spPr>
        <p:txBody>
          <a:bodyPr wrap="square" rtlCol="0" anchor="t"/>
          <a:lstStyle/>
          <a:p>
            <a:pPr indent="0" marL="0">
              <a:buNone/>
            </a:pPr>
            <a:r>
              <a:rPr lang="en-US" sz="3200" b="1" dirty="0">
                <a:solidFill>
                  <a:srgbClr val="2B2118"/>
                </a:solidFill>
                <a:latin typeface="Cambria" pitchFamily="34" charset="0"/>
                <a:ea typeface="Cambria" pitchFamily="34" charset="-122"/>
                <a:cs typeface="Cambria" pitchFamily="34" charset="-120"/>
              </a:rPr>
              <a:t>Bukan kurang ibadah.</a:t>
            </a:r>
            <a:endParaRPr lang="en-US" sz="3200" dirty="0"/>
          </a:p>
          <a:p>
            <a:pPr indent="0" marL="0">
              <a:buNone/>
            </a:pPr>
            <a:r>
              <a:rPr lang="en-US" sz="3200" b="1" dirty="0">
                <a:solidFill>
                  <a:srgbClr val="2B2118"/>
                </a:solidFill>
                <a:latin typeface="Cambria" pitchFamily="34" charset="0"/>
                <a:ea typeface="Cambria" pitchFamily="34" charset="-122"/>
                <a:cs typeface="Cambria" pitchFamily="34" charset="-120"/>
              </a:rPr>
              <a:t>Ini soal standar yang belum utuh.</a:t>
            </a:r>
            <a:endParaRPr lang="en-US" sz="3200" dirty="0"/>
          </a:p>
        </p:txBody>
      </p:sp>
      <p:sp>
        <p:nvSpPr>
          <p:cNvPr id="17" name="Text 13"/>
          <p:cNvSpPr/>
          <p:nvPr/>
        </p:nvSpPr>
        <p:spPr>
          <a:xfrm>
            <a:off x="4206240" y="2414016"/>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Yang belum utuh: Akidah Islam sebagai satu-satunya asas berpikir DAN bersikap — bukan cuma di ranah ibadah.</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07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6.png">    </p:cNvPr>
          <p:cNvPicPr>
            <a:picLocks noChangeAspect="1"/>
          </p:cNvPicPr>
          <p:nvPr/>
        </p:nvPicPr>
        <p:blipFill>
          <a:blip r:embed="rId1"/>
          <a:stretch>
            <a:fillRect/>
          </a:stretch>
        </p:blipFill>
        <p:spPr>
          <a:xfrm>
            <a:off x="8442655" y="2148840"/>
            <a:ext cx="2834640" cy="2834640"/>
          </a:xfrm>
          <a:prstGeom prst="rect">
            <a:avLst/>
          </a:prstGeom>
        </p:spPr>
      </p:pic>
      <p:sp>
        <p:nvSpPr>
          <p:cNvPr id="15" name="Text 11"/>
          <p:cNvSpPr/>
          <p:nvPr/>
        </p:nvSpPr>
        <p:spPr>
          <a:xfrm>
            <a:off x="64008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04 — BLIND SPOT</a:t>
            </a:r>
            <a:endParaRPr lang="en-US" sz="1200" dirty="0"/>
          </a:p>
        </p:txBody>
      </p:sp>
      <p:sp>
        <p:nvSpPr>
          <p:cNvPr id="16" name="Text 12"/>
          <p:cNvSpPr/>
          <p:nvPr/>
        </p:nvSpPr>
        <p:spPr>
          <a:xfrm>
            <a:off x="640080" y="950976"/>
            <a:ext cx="6035040" cy="365760"/>
          </a:xfrm>
          <a:prstGeom prst="rect">
            <a:avLst/>
          </a:prstGeom>
          <a:noFill/>
          <a:ln/>
        </p:spPr>
        <p:txBody>
          <a:bodyPr wrap="square" rtlCol="0" anchor="ctr"/>
          <a:lstStyle/>
          <a:p>
            <a:pPr indent="0" marL="0">
              <a:buNone/>
            </a:pPr>
            <a:r>
              <a:rPr lang="en-US" sz="1400" i="1" dirty="0">
                <a:solidFill>
                  <a:srgbClr val="5C4D3C"/>
                </a:solidFill>
                <a:latin typeface="Cambria" pitchFamily="34" charset="0"/>
                <a:ea typeface="Cambria" pitchFamily="34" charset="-122"/>
                <a:cs typeface="Cambria" pitchFamily="34" charset="-120"/>
              </a:rPr>
              <a:t>Blind Spot #1 — Audiens</a:t>
            </a:r>
            <a:endParaRPr lang="en-US" sz="1400" dirty="0"/>
          </a:p>
        </p:txBody>
      </p:sp>
      <p:sp>
        <p:nvSpPr>
          <p:cNvPr id="17" name="Text 13"/>
          <p:cNvSpPr/>
          <p:nvPr/>
        </p:nvSpPr>
        <p:spPr>
          <a:xfrm>
            <a:off x="640080" y="1335024"/>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Yang Nggak Kita Sadari dari Diri Sendiri</a:t>
            </a:r>
            <a:endParaRPr lang="en-US" sz="2800" dirty="0"/>
          </a:p>
        </p:txBody>
      </p:sp>
      <p:sp>
        <p:nvSpPr>
          <p:cNvPr id="18" name="Text 14"/>
          <p:cNvSpPr/>
          <p:nvPr/>
        </p:nvSpPr>
        <p:spPr>
          <a:xfrm>
            <a:off x="640080" y="2295144"/>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Kita terbiasa mengukur “kesalehan” hanya dari sisi ibadah ritual.</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Cara berpikir sehari-hari — uang, waktu, prioritas — jarang dievaluasi dengan standar yang sama.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08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7.png">    </p:cNvPr>
          <p:cNvPicPr>
            <a:picLocks noChangeAspect="1"/>
          </p:cNvPicPr>
          <p:nvPr/>
        </p:nvPicPr>
        <p:blipFill>
          <a:blip r:embed="rId1"/>
          <a:stretch>
            <a:fillRect/>
          </a:stretch>
        </p:blipFill>
        <p:spPr>
          <a:xfrm>
            <a:off x="640080" y="2148840"/>
            <a:ext cx="2834640" cy="2834640"/>
          </a:xfrm>
          <a:prstGeom prst="rect">
            <a:avLst/>
          </a:prstGeom>
        </p:spPr>
      </p:pic>
      <p:sp>
        <p:nvSpPr>
          <p:cNvPr id="15" name="Text 11"/>
          <p:cNvSpPr/>
          <p:nvPr/>
        </p:nvSpPr>
        <p:spPr>
          <a:xfrm>
            <a:off x="420624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04 — BLIND SPOT</a:t>
            </a:r>
            <a:endParaRPr lang="en-US" sz="1200" dirty="0"/>
          </a:p>
        </p:txBody>
      </p:sp>
      <p:sp>
        <p:nvSpPr>
          <p:cNvPr id="16" name="Text 12"/>
          <p:cNvSpPr/>
          <p:nvPr/>
        </p:nvSpPr>
        <p:spPr>
          <a:xfrm>
            <a:off x="4206240" y="950976"/>
            <a:ext cx="6035040" cy="365760"/>
          </a:xfrm>
          <a:prstGeom prst="rect">
            <a:avLst/>
          </a:prstGeom>
          <a:noFill/>
          <a:ln/>
        </p:spPr>
        <p:txBody>
          <a:bodyPr wrap="square" rtlCol="0" anchor="ctr"/>
          <a:lstStyle/>
          <a:p>
            <a:pPr indent="0" marL="0">
              <a:buNone/>
            </a:pPr>
            <a:r>
              <a:rPr lang="en-US" sz="1400" i="1" dirty="0">
                <a:solidFill>
                  <a:srgbClr val="5C4D3C"/>
                </a:solidFill>
                <a:latin typeface="Cambria" pitchFamily="34" charset="0"/>
                <a:ea typeface="Cambria" pitchFamily="34" charset="-122"/>
                <a:cs typeface="Cambria" pitchFamily="34" charset="-120"/>
              </a:rPr>
              <a:t>Blind Spot #2 — Self-Improvement Sekuler</a:t>
            </a:r>
            <a:endParaRPr lang="en-US" sz="1400" dirty="0"/>
          </a:p>
        </p:txBody>
      </p:sp>
      <p:sp>
        <p:nvSpPr>
          <p:cNvPr id="17" name="Text 13"/>
          <p:cNvSpPr/>
          <p:nvPr/>
        </p:nvSpPr>
        <p:spPr>
          <a:xfrm>
            <a:off x="4206240" y="1335024"/>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Standar Tandingan yang Diam-Diam Masuk</a:t>
            </a:r>
            <a:endParaRPr lang="en-US" sz="2800" dirty="0"/>
          </a:p>
        </p:txBody>
      </p:sp>
      <p:sp>
        <p:nvSpPr>
          <p:cNvPr id="18" name="Shape 14"/>
          <p:cNvSpPr/>
          <p:nvPr/>
        </p:nvSpPr>
        <p:spPr>
          <a:xfrm>
            <a:off x="4206240" y="2295144"/>
            <a:ext cx="2651760" cy="914400"/>
          </a:xfrm>
          <a:prstGeom prst="roundRect">
            <a:avLst>
              <a:gd name="adj" fmla="val 6000"/>
            </a:avLst>
          </a:prstGeom>
          <a:solidFill>
            <a:srgbClr val="ECE0C8"/>
          </a:solidFill>
          <a:ln w="9525">
            <a:solidFill>
              <a:srgbClr val="D8C9A3"/>
            </a:solidFill>
            <a:prstDash val="solid"/>
          </a:ln>
        </p:spPr>
      </p:sp>
      <p:sp>
        <p:nvSpPr>
          <p:cNvPr id="19" name="Text 15"/>
          <p:cNvSpPr/>
          <p:nvPr/>
        </p:nvSpPr>
        <p:spPr>
          <a:xfrm>
            <a:off x="4407408" y="2423160"/>
            <a:ext cx="2249424" cy="274320"/>
          </a:xfrm>
          <a:prstGeom prst="rect">
            <a:avLst/>
          </a:prstGeom>
          <a:noFill/>
          <a:ln/>
        </p:spPr>
        <p:txBody>
          <a:bodyPr wrap="square" rtlCol="0" anchor="ctr"/>
          <a:lstStyle/>
          <a:p>
            <a:pPr indent="0" marL="0">
              <a:buNone/>
            </a:pPr>
            <a:r>
              <a:rPr lang="en-US" sz="1000" spc="100" kern="0" dirty="0">
                <a:solidFill>
                  <a:srgbClr val="5C4D3C"/>
                </a:solidFill>
                <a:latin typeface="Calibri" pitchFamily="34" charset="0"/>
                <a:ea typeface="Calibri" pitchFamily="34" charset="-122"/>
                <a:cs typeface="Calibri" pitchFamily="34" charset="-120"/>
              </a:rPr>
              <a:t>KONTEN SELF-IMPROVEMENT POPULER</a:t>
            </a:r>
            <a:endParaRPr lang="en-US" sz="1000" dirty="0"/>
          </a:p>
        </p:txBody>
      </p:sp>
      <p:sp>
        <p:nvSpPr>
          <p:cNvPr id="20" name="Text 16"/>
          <p:cNvSpPr/>
          <p:nvPr/>
        </p:nvSpPr>
        <p:spPr>
          <a:xfrm>
            <a:off x="4407408" y="2697480"/>
            <a:ext cx="2249424" cy="365760"/>
          </a:xfrm>
          <a:prstGeom prst="rect">
            <a:avLst/>
          </a:prstGeom>
          <a:noFill/>
          <a:ln/>
        </p:spPr>
        <p:txBody>
          <a:bodyPr wrap="square" rtlCol="0" anchor="t"/>
          <a:lstStyle/>
          <a:p>
            <a:pPr indent="0" marL="0">
              <a:buNone/>
            </a:pPr>
            <a:r>
              <a:rPr lang="en-US" sz="1700" b="1" dirty="0">
                <a:solidFill>
                  <a:srgbClr val="2B2118"/>
                </a:solidFill>
                <a:latin typeface="Cambria" pitchFamily="34" charset="0"/>
                <a:ea typeface="Cambria" pitchFamily="34" charset="-122"/>
                <a:cs typeface="Cambria" pitchFamily="34" charset="-120"/>
              </a:rPr>
              <a:t>Tanpa fondasi Akidah</a:t>
            </a:r>
            <a:endParaRPr lang="en-US" sz="1700" dirty="0"/>
          </a:p>
        </p:txBody>
      </p:sp>
      <p:sp>
        <p:nvSpPr>
          <p:cNvPr id="21" name="Text 17"/>
          <p:cNvSpPr/>
          <p:nvPr/>
        </p:nvSpPr>
        <p:spPr>
          <a:xfrm>
            <a:off x="6858000" y="2569464"/>
            <a:ext cx="457200" cy="365760"/>
          </a:xfrm>
          <a:prstGeom prst="rect">
            <a:avLst/>
          </a:prstGeom>
          <a:noFill/>
          <a:ln/>
        </p:spPr>
        <p:txBody>
          <a:bodyPr wrap="square" rtlCol="0" anchor="ctr"/>
          <a:lstStyle/>
          <a:p>
            <a:pPr algn="ctr" indent="0" marL="0">
              <a:buNone/>
            </a:pPr>
            <a:r>
              <a:rPr lang="en-US" sz="1400" i="1" dirty="0">
                <a:solidFill>
                  <a:srgbClr val="8A5D10"/>
                </a:solidFill>
                <a:latin typeface="Cambria" pitchFamily="34" charset="0"/>
                <a:ea typeface="Cambria" pitchFamily="34" charset="-122"/>
                <a:cs typeface="Cambria" pitchFamily="34" charset="-120"/>
              </a:rPr>
              <a:t>vs</a:t>
            </a:r>
            <a:endParaRPr lang="en-US" sz="1400" dirty="0"/>
          </a:p>
        </p:txBody>
      </p:sp>
      <p:sp>
        <p:nvSpPr>
          <p:cNvPr id="22" name="Shape 18"/>
          <p:cNvSpPr/>
          <p:nvPr/>
        </p:nvSpPr>
        <p:spPr>
          <a:xfrm>
            <a:off x="7315200" y="2295144"/>
            <a:ext cx="2651760" cy="914400"/>
          </a:xfrm>
          <a:prstGeom prst="roundRect">
            <a:avLst>
              <a:gd name="adj" fmla="val 6000"/>
            </a:avLst>
          </a:prstGeom>
          <a:solidFill>
            <a:srgbClr val="E4EAE3"/>
          </a:solidFill>
          <a:ln w="9525">
            <a:solidFill>
              <a:srgbClr val="D8C9A3"/>
            </a:solidFill>
            <a:prstDash val="solid"/>
          </a:ln>
        </p:spPr>
      </p:sp>
      <p:sp>
        <p:nvSpPr>
          <p:cNvPr id="23" name="Text 19"/>
          <p:cNvSpPr/>
          <p:nvPr/>
        </p:nvSpPr>
        <p:spPr>
          <a:xfrm>
            <a:off x="7516368" y="2423160"/>
            <a:ext cx="2249424" cy="274320"/>
          </a:xfrm>
          <a:prstGeom prst="rect">
            <a:avLst/>
          </a:prstGeom>
          <a:noFill/>
          <a:ln/>
        </p:spPr>
        <p:txBody>
          <a:bodyPr wrap="square" rtlCol="0" anchor="ctr"/>
          <a:lstStyle/>
          <a:p>
            <a:pPr indent="0" marL="0">
              <a:buNone/>
            </a:pPr>
            <a:r>
              <a:rPr lang="en-US" sz="1000" spc="100" kern="0" dirty="0">
                <a:solidFill>
                  <a:srgbClr val="5C4D3C"/>
                </a:solidFill>
                <a:latin typeface="Calibri" pitchFamily="34" charset="0"/>
                <a:ea typeface="Calibri" pitchFamily="34" charset="-122"/>
                <a:cs typeface="Calibri" pitchFamily="34" charset="-120"/>
              </a:rPr>
              <a:t>SYAKHSHIYAH ISLAMIYAH</a:t>
            </a:r>
            <a:endParaRPr lang="en-US" sz="1000" dirty="0"/>
          </a:p>
        </p:txBody>
      </p:sp>
      <p:sp>
        <p:nvSpPr>
          <p:cNvPr id="24" name="Text 20"/>
          <p:cNvSpPr/>
          <p:nvPr/>
        </p:nvSpPr>
        <p:spPr>
          <a:xfrm>
            <a:off x="7516368" y="2697480"/>
            <a:ext cx="2249424" cy="365760"/>
          </a:xfrm>
          <a:prstGeom prst="rect">
            <a:avLst/>
          </a:prstGeom>
          <a:noFill/>
          <a:ln/>
        </p:spPr>
        <p:txBody>
          <a:bodyPr wrap="square" rtlCol="0" anchor="t"/>
          <a:lstStyle/>
          <a:p>
            <a:pPr indent="0" marL="0">
              <a:buNone/>
            </a:pPr>
            <a:r>
              <a:rPr lang="en-US" sz="1700" b="1" dirty="0">
                <a:solidFill>
                  <a:srgbClr val="0F4C3A"/>
                </a:solidFill>
                <a:latin typeface="Cambria" pitchFamily="34" charset="0"/>
                <a:ea typeface="Cambria" pitchFamily="34" charset="-122"/>
                <a:cs typeface="Cambria" pitchFamily="34" charset="-120"/>
              </a:rPr>
              <a:t>Berfondasi Akidah Islam</a:t>
            </a:r>
            <a:endParaRPr lang="en-US" sz="1700" dirty="0"/>
          </a:p>
        </p:txBody>
      </p:sp>
      <p:sp>
        <p:nvSpPr>
          <p:cNvPr id="25" name="Text 21"/>
          <p:cNvSpPr/>
          <p:nvPr/>
        </p:nvSpPr>
        <p:spPr>
          <a:xfrm>
            <a:off x="4206240" y="3529584"/>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Konten motivasi populer menawarkan “kepribadian ideal” versi sendiri — terasa masuk akal dan relate.</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Fondasinya bukan Akidah Islam, dan tanpa sadar standar itu yang justru kita ikuti.</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09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08.png">    </p:cNvPr>
          <p:cNvPicPr>
            <a:picLocks noChangeAspect="1"/>
          </p:cNvPicPr>
          <p:nvPr/>
        </p:nvPicPr>
        <p:blipFill>
          <a:blip r:embed="rId1"/>
          <a:stretch>
            <a:fillRect/>
          </a:stretch>
        </p:blipFill>
        <p:spPr>
          <a:xfrm>
            <a:off x="8442655" y="2148840"/>
            <a:ext cx="2834640" cy="2834640"/>
          </a:xfrm>
          <a:prstGeom prst="rect">
            <a:avLst/>
          </a:prstGeom>
        </p:spPr>
      </p:pic>
      <p:sp>
        <p:nvSpPr>
          <p:cNvPr id="15" name="Text 11"/>
          <p:cNvSpPr/>
          <p:nvPr/>
        </p:nvSpPr>
        <p:spPr>
          <a:xfrm>
            <a:off x="64008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05 — CONSEQUENCES</a:t>
            </a:r>
            <a:endParaRPr lang="en-US" sz="1200" dirty="0"/>
          </a:p>
        </p:txBody>
      </p:sp>
      <p:sp>
        <p:nvSpPr>
          <p:cNvPr id="16" name="Text 12"/>
          <p:cNvSpPr/>
          <p:nvPr/>
        </p:nvSpPr>
        <p:spPr>
          <a:xfrm>
            <a:off x="640080" y="950976"/>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Kalau Dibiarkan, Ini yang Terjadi</a:t>
            </a:r>
            <a:endParaRPr lang="en-US" sz="2800" dirty="0"/>
          </a:p>
        </p:txBody>
      </p:sp>
      <p:sp>
        <p:nvSpPr>
          <p:cNvPr id="17" name="Text 13"/>
          <p:cNvSpPr/>
          <p:nvPr/>
        </p:nvSpPr>
        <p:spPr>
          <a:xfrm>
            <a:off x="640080" y="1911096"/>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Kepribadian yang fondasinya campuran akan rapuh saat menghadapi ujian besar hidup.</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Contoh: pilihan karier, jodoh, tekanan sosial yang menuntut keputusan besar.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1A1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F4ECDC">
                <a:alpha val="22000"/>
              </a:srgbClr>
            </a:solidFill>
            <a:prstDash val="solid"/>
          </a:ln>
        </p:spPr>
      </p:sp>
      <p:sp>
        <p:nvSpPr>
          <p:cNvPr id="3" name="Shape 1"/>
          <p:cNvSpPr/>
          <p:nvPr/>
        </p:nvSpPr>
        <p:spPr>
          <a:xfrm>
            <a:off x="365760" y="365760"/>
            <a:ext cx="237744" cy="0"/>
          </a:xfrm>
          <a:prstGeom prst="line">
            <a:avLst/>
          </a:prstGeom>
          <a:noFill/>
          <a:ln w="19050">
            <a:solidFill>
              <a:srgbClr val="CF9A2E"/>
            </a:solidFill>
            <a:prstDash val="solid"/>
          </a:ln>
        </p:spPr>
      </p:sp>
      <p:sp>
        <p:nvSpPr>
          <p:cNvPr id="4" name="Shape 2"/>
          <p:cNvSpPr/>
          <p:nvPr/>
        </p:nvSpPr>
        <p:spPr>
          <a:xfrm>
            <a:off x="365760" y="365760"/>
            <a:ext cx="0" cy="237744"/>
          </a:xfrm>
          <a:prstGeom prst="line">
            <a:avLst/>
          </a:prstGeom>
          <a:noFill/>
          <a:ln w="19050">
            <a:solidFill>
              <a:srgbClr val="CF9A2E"/>
            </a:solidFill>
            <a:prstDash val="solid"/>
          </a:ln>
        </p:spPr>
      </p:sp>
      <p:sp>
        <p:nvSpPr>
          <p:cNvPr id="5" name="Shape 3"/>
          <p:cNvSpPr/>
          <p:nvPr/>
        </p:nvSpPr>
        <p:spPr>
          <a:xfrm>
            <a:off x="11825935" y="365760"/>
            <a:ext cx="-237744" cy="0"/>
          </a:xfrm>
          <a:prstGeom prst="line">
            <a:avLst/>
          </a:prstGeom>
          <a:noFill/>
          <a:ln w="19050">
            <a:solidFill>
              <a:srgbClr val="CF9A2E"/>
            </a:solidFill>
            <a:prstDash val="solid"/>
          </a:ln>
        </p:spPr>
      </p:sp>
      <p:sp>
        <p:nvSpPr>
          <p:cNvPr id="6" name="Shape 4"/>
          <p:cNvSpPr/>
          <p:nvPr/>
        </p:nvSpPr>
        <p:spPr>
          <a:xfrm>
            <a:off x="11825935" y="365760"/>
            <a:ext cx="0" cy="237744"/>
          </a:xfrm>
          <a:prstGeom prst="line">
            <a:avLst/>
          </a:prstGeom>
          <a:noFill/>
          <a:ln w="19050">
            <a:solidFill>
              <a:srgbClr val="CF9A2E"/>
            </a:solidFill>
            <a:prstDash val="solid"/>
          </a:ln>
        </p:spPr>
      </p:sp>
      <p:sp>
        <p:nvSpPr>
          <p:cNvPr id="7" name="Shape 5"/>
          <p:cNvSpPr/>
          <p:nvPr/>
        </p:nvSpPr>
        <p:spPr>
          <a:xfrm>
            <a:off x="365760" y="6492240"/>
            <a:ext cx="237744" cy="0"/>
          </a:xfrm>
          <a:prstGeom prst="line">
            <a:avLst/>
          </a:prstGeom>
          <a:noFill/>
          <a:ln w="19050">
            <a:solidFill>
              <a:srgbClr val="CF9A2E"/>
            </a:solidFill>
            <a:prstDash val="solid"/>
          </a:ln>
        </p:spPr>
      </p:sp>
      <p:sp>
        <p:nvSpPr>
          <p:cNvPr id="8" name="Shape 6"/>
          <p:cNvSpPr/>
          <p:nvPr/>
        </p:nvSpPr>
        <p:spPr>
          <a:xfrm>
            <a:off x="365760" y="6492240"/>
            <a:ext cx="0" cy="-237744"/>
          </a:xfrm>
          <a:prstGeom prst="line">
            <a:avLst/>
          </a:prstGeom>
          <a:noFill/>
          <a:ln w="19050">
            <a:solidFill>
              <a:srgbClr val="CF9A2E"/>
            </a:solidFill>
            <a:prstDash val="solid"/>
          </a:ln>
        </p:spPr>
      </p:sp>
      <p:sp>
        <p:nvSpPr>
          <p:cNvPr id="9" name="Shape 7"/>
          <p:cNvSpPr/>
          <p:nvPr/>
        </p:nvSpPr>
        <p:spPr>
          <a:xfrm>
            <a:off x="11825935" y="6492240"/>
            <a:ext cx="-237744" cy="0"/>
          </a:xfrm>
          <a:prstGeom prst="line">
            <a:avLst/>
          </a:prstGeom>
          <a:noFill/>
          <a:ln w="19050">
            <a:solidFill>
              <a:srgbClr val="CF9A2E"/>
            </a:solidFill>
            <a:prstDash val="solid"/>
          </a:ln>
        </p:spPr>
      </p:sp>
      <p:sp>
        <p:nvSpPr>
          <p:cNvPr id="10" name="Shape 8"/>
          <p:cNvSpPr/>
          <p:nvPr/>
        </p:nvSpPr>
        <p:spPr>
          <a:xfrm>
            <a:off x="11825935" y="6492240"/>
            <a:ext cx="0" cy="-237744"/>
          </a:xfrm>
          <a:prstGeom prst="line">
            <a:avLst/>
          </a:prstGeom>
          <a:noFill/>
          <a:ln w="19050">
            <a:solidFill>
              <a:srgbClr val="CF9A2E"/>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C9B896"/>
                </a:solidFill>
                <a:latin typeface="Calibri" pitchFamily="34" charset="0"/>
                <a:ea typeface="Calibri" pitchFamily="34" charset="-122"/>
                <a:cs typeface="Calibri" pitchFamily="34" charset="-120"/>
              </a:rPr>
              <a:t>10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C9B896"/>
                </a:solidFill>
                <a:latin typeface="Calibri" pitchFamily="34" charset="0"/>
                <a:ea typeface="Calibri" pitchFamily="34" charset="-122"/>
                <a:cs typeface="Calibri" pitchFamily="34" charset="-120"/>
              </a:rPr>
              <a:t>SYAKHSHIYAH DAN SYAKHSHIYAH ISLAMIYYAH</a:t>
            </a:r>
            <a:endParaRPr lang="en-US" sz="900" dirty="0"/>
          </a:p>
        </p:txBody>
      </p:sp>
      <p:sp>
        <p:nvSpPr>
          <p:cNvPr id="14" name="Text 11"/>
          <p:cNvSpPr/>
          <p:nvPr/>
        </p:nvSpPr>
        <p:spPr>
          <a:xfrm>
            <a:off x="0" y="502920"/>
            <a:ext cx="12191695" cy="1097280"/>
          </a:xfrm>
          <a:prstGeom prst="rect">
            <a:avLst/>
          </a:prstGeom>
          <a:noFill/>
          <a:ln/>
        </p:spPr>
        <p:txBody>
          <a:bodyPr wrap="square" rtlCol="0" anchor="ctr"/>
          <a:lstStyle/>
          <a:p>
            <a:pPr algn="ctr" indent="0" marL="0">
              <a:buNone/>
            </a:pPr>
            <a:r>
              <a:rPr lang="en-US" sz="9600" b="1" dirty="0">
                <a:solidFill>
                  <a:srgbClr val="A8760F"/>
                </a:solidFill>
                <a:latin typeface="Cambria" pitchFamily="34" charset="0"/>
                <a:ea typeface="Cambria" pitchFamily="34" charset="-122"/>
                <a:cs typeface="Cambria" pitchFamily="34" charset="-120"/>
              </a:rPr>
              <a:t>“</a:t>
            </a:r>
            <a:endParaRPr lang="en-US" sz="9600" dirty="0"/>
          </a:p>
        </p:txBody>
      </p:sp>
      <p:sp>
        <p:nvSpPr>
          <p:cNvPr id="15" name="Text 12"/>
          <p:cNvSpPr/>
          <p:nvPr/>
        </p:nvSpPr>
        <p:spPr>
          <a:xfrm>
            <a:off x="1463040" y="1554480"/>
            <a:ext cx="9265615" cy="2926080"/>
          </a:xfrm>
          <a:prstGeom prst="rect">
            <a:avLst/>
          </a:prstGeom>
          <a:noFill/>
          <a:ln/>
        </p:spPr>
        <p:txBody>
          <a:bodyPr wrap="square" rtlCol="0" anchor="t"/>
          <a:lstStyle/>
          <a:p>
            <a:pPr algn="ctr" indent="0" marL="0">
              <a:lnSpc>
                <a:spcPct val="130000"/>
              </a:lnSpc>
              <a:buNone/>
            </a:pPr>
            <a:r>
              <a:rPr lang="en-US" sz="2600" b="1" i="1" dirty="0">
                <a:solidFill>
                  <a:srgbClr val="F4ECDC"/>
                </a:solidFill>
                <a:latin typeface="Cambria" pitchFamily="34" charset="0"/>
                <a:ea typeface="Cambria" pitchFamily="34" charset="-122"/>
                <a:cs typeface="Cambria" pitchFamily="34" charset="-120"/>
              </a:rPr>
              <a:t>Kamu bisa punya identitas muslim, tapi standar berpikir dan sikapmu sehari-hari masih dipegang oleh selain Islam — itu bukan kepribadian Islam, itu cuma numpang nama.</a:t>
            </a:r>
            <a:endParaRPr lang="en-US" sz="2600" dirty="0"/>
          </a:p>
        </p:txBody>
      </p:sp>
      <p:pic>
        <p:nvPicPr>
          <p:cNvPr id="16" name="Image 0" descr="/home/user/nizam-app/presentations/syakhshiyah-islamiyah/assets/icons-png/s09.png">    </p:cNvPr>
          <p:cNvPicPr>
            <a:picLocks noChangeAspect="1"/>
          </p:cNvPicPr>
          <p:nvPr/>
        </p:nvPicPr>
        <p:blipFill>
          <a:blip r:embed="rId1"/>
          <a:stretch>
            <a:fillRect/>
          </a:stretch>
        </p:blipFill>
        <p:spPr>
          <a:xfrm>
            <a:off x="5090008" y="4709160"/>
            <a:ext cx="2011680" cy="20116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11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sp>
        <p:nvSpPr>
          <p:cNvPr id="14" name="Text 11"/>
          <p:cNvSpPr/>
          <p:nvPr/>
        </p:nvSpPr>
        <p:spPr>
          <a:xfrm>
            <a:off x="0" y="566928"/>
            <a:ext cx="12191695" cy="320040"/>
          </a:xfrm>
          <a:prstGeom prst="rect">
            <a:avLst/>
          </a:prstGeom>
          <a:noFill/>
          <a:ln/>
        </p:spPr>
        <p:txBody>
          <a:bodyPr wrap="square" rtlCol="0" anchor="ctr"/>
          <a:lstStyle/>
          <a:p>
            <a:pPr algn="ctr" indent="0" marL="0">
              <a:buNone/>
            </a:pPr>
            <a:r>
              <a:rPr lang="en-US" sz="1200" b="1" spc="200" kern="0" dirty="0">
                <a:solidFill>
                  <a:srgbClr val="A8760F"/>
                </a:solidFill>
                <a:latin typeface="Calibri" pitchFamily="34" charset="0"/>
                <a:ea typeface="Calibri" pitchFamily="34" charset="-122"/>
                <a:cs typeface="Calibri" pitchFamily="34" charset="-120"/>
              </a:rPr>
              <a:t>07 — FRAMEWORK</a:t>
            </a:r>
            <a:endParaRPr lang="en-US" sz="1200" dirty="0"/>
          </a:p>
        </p:txBody>
      </p:sp>
      <p:sp>
        <p:nvSpPr>
          <p:cNvPr id="15" name="Text 12"/>
          <p:cNvSpPr/>
          <p:nvPr/>
        </p:nvSpPr>
        <p:spPr>
          <a:xfrm>
            <a:off x="914400" y="960120"/>
            <a:ext cx="10362895" cy="640080"/>
          </a:xfrm>
          <a:prstGeom prst="rect">
            <a:avLst/>
          </a:prstGeom>
          <a:noFill/>
          <a:ln/>
        </p:spPr>
        <p:txBody>
          <a:bodyPr wrap="square" rtlCol="0" anchor="ctr"/>
          <a:lstStyle/>
          <a:p>
            <a:pPr algn="ctr" indent="0" marL="0">
              <a:buNone/>
            </a:pPr>
            <a:r>
              <a:rPr lang="en-US" sz="3000" b="1" dirty="0">
                <a:solidFill>
                  <a:srgbClr val="2B2118"/>
                </a:solidFill>
                <a:latin typeface="Cambria" pitchFamily="34" charset="0"/>
                <a:ea typeface="Cambria" pitchFamily="34" charset="-122"/>
                <a:cs typeface="Cambria" pitchFamily="34" charset="-120"/>
              </a:rPr>
              <a:t>2 Pilar Syakhshiyah Islamiyah</a:t>
            </a:r>
            <a:endParaRPr lang="en-US" sz="3000" dirty="0"/>
          </a:p>
        </p:txBody>
      </p:sp>
      <p:pic>
        <p:nvPicPr>
          <p:cNvPr id="16" name="Image 0" descr="/home/user/nizam-app/presentations/syakhshiyah-islamiyah/assets/icons-png/s10.png">    </p:cNvPr>
          <p:cNvPicPr>
            <a:picLocks noChangeAspect="1"/>
          </p:cNvPicPr>
          <p:nvPr/>
        </p:nvPicPr>
        <p:blipFill>
          <a:blip r:embed="rId1"/>
          <a:stretch>
            <a:fillRect/>
          </a:stretch>
        </p:blipFill>
        <p:spPr>
          <a:xfrm>
            <a:off x="5181448" y="1691640"/>
            <a:ext cx="1828800" cy="1828800"/>
          </a:xfrm>
          <a:prstGeom prst="rect">
            <a:avLst/>
          </a:prstGeom>
        </p:spPr>
      </p:pic>
      <p:sp>
        <p:nvSpPr>
          <p:cNvPr id="17" name="Shape 13"/>
          <p:cNvSpPr/>
          <p:nvPr/>
        </p:nvSpPr>
        <p:spPr>
          <a:xfrm>
            <a:off x="2575408" y="3794760"/>
            <a:ext cx="3291840" cy="1371600"/>
          </a:xfrm>
          <a:prstGeom prst="roundRect">
            <a:avLst>
              <a:gd name="adj" fmla="val 5333"/>
            </a:avLst>
          </a:prstGeom>
          <a:solidFill>
            <a:srgbClr val="E4EAE3"/>
          </a:solidFill>
          <a:ln/>
        </p:spPr>
      </p:sp>
      <p:sp>
        <p:nvSpPr>
          <p:cNvPr id="18" name="Text 14"/>
          <p:cNvSpPr/>
          <p:nvPr/>
        </p:nvSpPr>
        <p:spPr>
          <a:xfrm>
            <a:off x="2804008" y="3950208"/>
            <a:ext cx="2834640" cy="457200"/>
          </a:xfrm>
          <a:prstGeom prst="rect">
            <a:avLst/>
          </a:prstGeom>
          <a:noFill/>
          <a:ln/>
        </p:spPr>
        <p:txBody>
          <a:bodyPr wrap="square" rtlCol="0" anchor="ctr"/>
          <a:lstStyle/>
          <a:p>
            <a:pPr algn="ctr" indent="0" marL="0">
              <a:buNone/>
            </a:pPr>
            <a:r>
              <a:rPr lang="en-US" sz="1800" b="1" dirty="0">
                <a:solidFill>
                  <a:srgbClr val="2B2118"/>
                </a:solidFill>
                <a:latin typeface="Cambria" pitchFamily="34" charset="0"/>
                <a:ea typeface="Cambria" pitchFamily="34" charset="-122"/>
                <a:cs typeface="Cambria" pitchFamily="34" charset="-120"/>
              </a:rPr>
              <a:t>‘Aqliyah Islamiyah</a:t>
            </a:r>
            <a:endParaRPr lang="en-US" sz="1800" dirty="0"/>
          </a:p>
        </p:txBody>
      </p:sp>
      <p:sp>
        <p:nvSpPr>
          <p:cNvPr id="19" name="Text 15"/>
          <p:cNvSpPr/>
          <p:nvPr/>
        </p:nvSpPr>
        <p:spPr>
          <a:xfrm>
            <a:off x="2804008" y="4407408"/>
            <a:ext cx="2834640" cy="685800"/>
          </a:xfrm>
          <a:prstGeom prst="rect">
            <a:avLst/>
          </a:prstGeom>
          <a:noFill/>
          <a:ln/>
        </p:spPr>
        <p:txBody>
          <a:bodyPr wrap="square" rtlCol="0" anchor="t"/>
          <a:lstStyle/>
          <a:p>
            <a:pPr algn="ctr" indent="0" marL="0">
              <a:buNone/>
            </a:pPr>
            <a:r>
              <a:rPr lang="en-US" sz="1300" dirty="0">
                <a:solidFill>
                  <a:srgbClr val="5C4D3C"/>
                </a:solidFill>
                <a:latin typeface="Calibri" pitchFamily="34" charset="0"/>
                <a:ea typeface="Calibri" pitchFamily="34" charset="-122"/>
                <a:cs typeface="Calibri" pitchFamily="34" charset="-120"/>
              </a:rPr>
              <a:t>Pola pikir yang berlandaskan Akidah Islam</a:t>
            </a:r>
            <a:endParaRPr lang="en-US" sz="1300" dirty="0"/>
          </a:p>
        </p:txBody>
      </p:sp>
      <p:sp>
        <p:nvSpPr>
          <p:cNvPr id="20" name="Shape 16"/>
          <p:cNvSpPr/>
          <p:nvPr/>
        </p:nvSpPr>
        <p:spPr>
          <a:xfrm>
            <a:off x="6324448" y="3794760"/>
            <a:ext cx="3291840" cy="1371600"/>
          </a:xfrm>
          <a:prstGeom prst="roundRect">
            <a:avLst>
              <a:gd name="adj" fmla="val 5333"/>
            </a:avLst>
          </a:prstGeom>
          <a:solidFill>
            <a:srgbClr val="EFE4CC"/>
          </a:solidFill>
          <a:ln/>
        </p:spPr>
      </p:sp>
      <p:sp>
        <p:nvSpPr>
          <p:cNvPr id="21" name="Text 17"/>
          <p:cNvSpPr/>
          <p:nvPr/>
        </p:nvSpPr>
        <p:spPr>
          <a:xfrm>
            <a:off x="6553048" y="3950208"/>
            <a:ext cx="2834640" cy="457200"/>
          </a:xfrm>
          <a:prstGeom prst="rect">
            <a:avLst/>
          </a:prstGeom>
          <a:noFill/>
          <a:ln/>
        </p:spPr>
        <p:txBody>
          <a:bodyPr wrap="square" rtlCol="0" anchor="ctr"/>
          <a:lstStyle/>
          <a:p>
            <a:pPr algn="ctr" indent="0" marL="0">
              <a:buNone/>
            </a:pPr>
            <a:r>
              <a:rPr lang="en-US" sz="1800" b="1" dirty="0">
                <a:solidFill>
                  <a:srgbClr val="2B2118"/>
                </a:solidFill>
                <a:latin typeface="Cambria" pitchFamily="34" charset="0"/>
                <a:ea typeface="Cambria" pitchFamily="34" charset="-122"/>
                <a:cs typeface="Cambria" pitchFamily="34" charset="-120"/>
              </a:rPr>
              <a:t>Nafsiyah Islamiyah</a:t>
            </a:r>
            <a:endParaRPr lang="en-US" sz="1800" dirty="0"/>
          </a:p>
        </p:txBody>
      </p:sp>
      <p:sp>
        <p:nvSpPr>
          <p:cNvPr id="22" name="Text 18"/>
          <p:cNvSpPr/>
          <p:nvPr/>
        </p:nvSpPr>
        <p:spPr>
          <a:xfrm>
            <a:off x="6553048" y="4407408"/>
            <a:ext cx="2834640" cy="685800"/>
          </a:xfrm>
          <a:prstGeom prst="rect">
            <a:avLst/>
          </a:prstGeom>
          <a:noFill/>
          <a:ln/>
        </p:spPr>
        <p:txBody>
          <a:bodyPr wrap="square" rtlCol="0" anchor="t"/>
          <a:lstStyle/>
          <a:p>
            <a:pPr algn="ctr" indent="0" marL="0">
              <a:buNone/>
            </a:pPr>
            <a:r>
              <a:rPr lang="en-US" sz="1300" dirty="0">
                <a:solidFill>
                  <a:srgbClr val="5C4D3C"/>
                </a:solidFill>
                <a:latin typeface="Calibri" pitchFamily="34" charset="0"/>
                <a:ea typeface="Calibri" pitchFamily="34" charset="-122"/>
                <a:cs typeface="Calibri" pitchFamily="34" charset="-120"/>
              </a:rPr>
              <a:t>Pola sikap yang berlandaskan Akidah Islam</a:t>
            </a:r>
            <a:endParaRPr lang="en-US" sz="1300" dirty="0"/>
          </a:p>
        </p:txBody>
      </p:sp>
      <p:sp>
        <p:nvSpPr>
          <p:cNvPr id="23" name="Text 19"/>
          <p:cNvSpPr/>
          <p:nvPr/>
        </p:nvSpPr>
        <p:spPr>
          <a:xfrm>
            <a:off x="1371600" y="5440680"/>
            <a:ext cx="9448495" cy="457200"/>
          </a:xfrm>
          <a:prstGeom prst="rect">
            <a:avLst/>
          </a:prstGeom>
          <a:noFill/>
          <a:ln/>
        </p:spPr>
        <p:txBody>
          <a:bodyPr wrap="square" rtlCol="0" anchor="ctr"/>
          <a:lstStyle/>
          <a:p>
            <a:pPr algn="ctr" indent="0" marL="0">
              <a:buNone/>
            </a:pPr>
            <a:r>
              <a:rPr lang="en-US" sz="1600" i="1" dirty="0">
                <a:solidFill>
                  <a:srgbClr val="8A5D10"/>
                </a:solidFill>
                <a:latin typeface="Cambria" pitchFamily="34" charset="0"/>
                <a:ea typeface="Cambria" pitchFamily="34" charset="-122"/>
                <a:cs typeface="Cambria" pitchFamily="34" charset="-120"/>
              </a:rPr>
              <a:t>Keduanya berdiri di atas satu fondasi yang sama: Akidah Islam.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12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sp>
        <p:nvSpPr>
          <p:cNvPr id="14" name="Text 11"/>
          <p:cNvSpPr/>
          <p:nvPr/>
        </p:nvSpPr>
        <p:spPr>
          <a:xfrm>
            <a:off x="0" y="502920"/>
            <a:ext cx="12191695" cy="320040"/>
          </a:xfrm>
          <a:prstGeom prst="rect">
            <a:avLst/>
          </a:prstGeom>
          <a:noFill/>
          <a:ln/>
        </p:spPr>
        <p:txBody>
          <a:bodyPr wrap="square" rtlCol="0" anchor="ctr"/>
          <a:lstStyle/>
          <a:p>
            <a:pPr algn="ctr" indent="0" marL="0">
              <a:buNone/>
            </a:pPr>
            <a:r>
              <a:rPr lang="en-US" sz="1200" b="1" spc="200" kern="0" dirty="0">
                <a:solidFill>
                  <a:srgbClr val="A8760F"/>
                </a:solidFill>
                <a:latin typeface="Calibri" pitchFamily="34" charset="0"/>
                <a:ea typeface="Calibri" pitchFamily="34" charset="-122"/>
                <a:cs typeface="Calibri" pitchFamily="34" charset="-120"/>
              </a:rPr>
              <a:t>07 — FRAMEWORK</a:t>
            </a:r>
            <a:endParaRPr lang="en-US" sz="1200" dirty="0"/>
          </a:p>
        </p:txBody>
      </p:sp>
      <p:sp>
        <p:nvSpPr>
          <p:cNvPr id="15" name="Text 12"/>
          <p:cNvSpPr/>
          <p:nvPr/>
        </p:nvSpPr>
        <p:spPr>
          <a:xfrm>
            <a:off x="914400" y="868680"/>
            <a:ext cx="10362895" cy="685800"/>
          </a:xfrm>
          <a:prstGeom prst="rect">
            <a:avLst/>
          </a:prstGeom>
          <a:noFill/>
          <a:ln/>
        </p:spPr>
        <p:txBody>
          <a:bodyPr wrap="square" rtlCol="0" anchor="ctr"/>
          <a:lstStyle/>
          <a:p>
            <a:pPr algn="ctr" indent="0" marL="0">
              <a:buNone/>
            </a:pPr>
            <a:r>
              <a:rPr lang="en-US" sz="2700" b="1" dirty="0">
                <a:solidFill>
                  <a:srgbClr val="2B2118"/>
                </a:solidFill>
                <a:latin typeface="Cambria" pitchFamily="34" charset="0"/>
                <a:ea typeface="Cambria" pitchFamily="34" charset="-122"/>
                <a:cs typeface="Cambria" pitchFamily="34" charset="-120"/>
              </a:rPr>
              <a:t>2 Pilar Syakhshiyah Islamiyah — Detail</a:t>
            </a:r>
            <a:endParaRPr lang="en-US" sz="2700" dirty="0"/>
          </a:p>
        </p:txBody>
      </p:sp>
      <p:pic>
        <p:nvPicPr>
          <p:cNvPr id="16" name="Image 0" descr="/home/user/nizam-app/presentations/syakhshiyah-islamiyah/assets/icons-png/s11.png">    </p:cNvPr>
          <p:cNvPicPr>
            <a:picLocks noChangeAspect="1"/>
          </p:cNvPicPr>
          <p:nvPr/>
        </p:nvPicPr>
        <p:blipFill>
          <a:blip r:embed="rId1"/>
          <a:stretch>
            <a:fillRect/>
          </a:stretch>
        </p:blipFill>
        <p:spPr>
          <a:xfrm>
            <a:off x="5318608" y="1600200"/>
            <a:ext cx="1554480" cy="1554480"/>
          </a:xfrm>
          <a:prstGeom prst="rect">
            <a:avLst/>
          </a:prstGeom>
        </p:spPr>
      </p:pic>
      <p:sp>
        <p:nvSpPr>
          <p:cNvPr id="17" name="Shape 13"/>
          <p:cNvSpPr/>
          <p:nvPr/>
        </p:nvSpPr>
        <p:spPr>
          <a:xfrm>
            <a:off x="1203808" y="3383280"/>
            <a:ext cx="4663440" cy="1965960"/>
          </a:xfrm>
          <a:prstGeom prst="roundRect">
            <a:avLst>
              <a:gd name="adj" fmla="val 3721"/>
            </a:avLst>
          </a:prstGeom>
          <a:solidFill>
            <a:srgbClr val="ECE0C8"/>
          </a:solidFill>
          <a:ln w="9525">
            <a:solidFill>
              <a:srgbClr val="D8C9A3"/>
            </a:solidFill>
            <a:prstDash val="solid"/>
          </a:ln>
        </p:spPr>
      </p:sp>
      <p:sp>
        <p:nvSpPr>
          <p:cNvPr id="18" name="Text 14"/>
          <p:cNvSpPr/>
          <p:nvPr/>
        </p:nvSpPr>
        <p:spPr>
          <a:xfrm>
            <a:off x="1459840" y="3566160"/>
            <a:ext cx="4151376" cy="365760"/>
          </a:xfrm>
          <a:prstGeom prst="rect">
            <a:avLst/>
          </a:prstGeom>
          <a:noFill/>
          <a:ln/>
        </p:spPr>
        <p:txBody>
          <a:bodyPr wrap="square"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‘Aqliyah Islamiyah</a:t>
            </a:r>
            <a:endParaRPr lang="en-US" sz="1600" dirty="0"/>
          </a:p>
        </p:txBody>
      </p:sp>
      <p:sp>
        <p:nvSpPr>
          <p:cNvPr id="19" name="Text 15"/>
          <p:cNvSpPr/>
          <p:nvPr/>
        </p:nvSpPr>
        <p:spPr>
          <a:xfrm>
            <a:off x="1459840" y="3950208"/>
            <a:ext cx="4151376" cy="1234440"/>
          </a:xfrm>
          <a:prstGeom prst="rect">
            <a:avLst/>
          </a:prstGeom>
          <a:noFill/>
          <a:ln/>
        </p:spPr>
        <p:txBody>
          <a:bodyPr wrap="square" rtlCol="0" anchor="t"/>
          <a:lstStyle/>
          <a:p>
            <a:pPr indent="0" marL="0">
              <a:lnSpc>
                <a:spcPct val="120000"/>
              </a:lnSpc>
              <a:spcAft>
                <a:spcPts val="600"/>
              </a:spcAft>
              <a:buNone/>
            </a:pPr>
            <a:r>
              <a:rPr lang="en-US" sz="1250" dirty="0">
                <a:solidFill>
                  <a:srgbClr val="5C4D3C"/>
                </a:solidFill>
                <a:latin typeface="Calibri" pitchFamily="34" charset="0"/>
                <a:ea typeface="Calibri" pitchFamily="34" charset="-122"/>
                <a:cs typeface="Calibri" pitchFamily="34" charset="-120"/>
              </a:rPr>
              <a:t>Cara berpikir untuk mengeluarkan keputusan/penilaian berdasarkan kaidah Akidah Islam.</a:t>
            </a:r>
            <a:endParaRPr lang="en-US" sz="1250" dirty="0"/>
          </a:p>
          <a:p>
            <a:pPr indent="0" marL="0">
              <a:lnSpc>
                <a:spcPct val="120000"/>
              </a:lnSpc>
              <a:buNone/>
            </a:pPr>
            <a:r>
              <a:rPr lang="en-US" sz="1250" i="1" dirty="0">
                <a:solidFill>
                  <a:srgbClr val="0F4C3A"/>
                </a:solidFill>
                <a:latin typeface="Calibri" pitchFamily="34" charset="0"/>
                <a:ea typeface="Calibri" pitchFamily="34" charset="-122"/>
                <a:cs typeface="Calibri" pitchFamily="34" charset="-120"/>
              </a:rPr>
              <a:t>Contoh: menolak pekerjaan bergaji tinggi karena mengandung riba.</a:t>
            </a:r>
            <a:endParaRPr lang="en-US" sz="1250" dirty="0"/>
          </a:p>
        </p:txBody>
      </p:sp>
      <p:sp>
        <p:nvSpPr>
          <p:cNvPr id="20" name="Shape 16"/>
          <p:cNvSpPr/>
          <p:nvPr/>
        </p:nvSpPr>
        <p:spPr>
          <a:xfrm>
            <a:off x="6324448" y="3383280"/>
            <a:ext cx="4663440" cy="1965960"/>
          </a:xfrm>
          <a:prstGeom prst="roundRect">
            <a:avLst>
              <a:gd name="adj" fmla="val 3721"/>
            </a:avLst>
          </a:prstGeom>
          <a:solidFill>
            <a:srgbClr val="EFE4CC"/>
          </a:solidFill>
          <a:ln w="9525">
            <a:solidFill>
              <a:srgbClr val="D8C9A3"/>
            </a:solidFill>
            <a:prstDash val="solid"/>
          </a:ln>
        </p:spPr>
      </p:sp>
      <p:sp>
        <p:nvSpPr>
          <p:cNvPr id="21" name="Text 17"/>
          <p:cNvSpPr/>
          <p:nvPr/>
        </p:nvSpPr>
        <p:spPr>
          <a:xfrm>
            <a:off x="6580480" y="3566160"/>
            <a:ext cx="4151376" cy="365760"/>
          </a:xfrm>
          <a:prstGeom prst="rect">
            <a:avLst/>
          </a:prstGeom>
          <a:noFill/>
          <a:ln/>
        </p:spPr>
        <p:txBody>
          <a:bodyPr wrap="square"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Nafsiyah Islamiyah</a:t>
            </a:r>
            <a:endParaRPr lang="en-US" sz="1600" dirty="0"/>
          </a:p>
        </p:txBody>
      </p:sp>
      <p:sp>
        <p:nvSpPr>
          <p:cNvPr id="22" name="Text 18"/>
          <p:cNvSpPr/>
          <p:nvPr/>
        </p:nvSpPr>
        <p:spPr>
          <a:xfrm>
            <a:off x="6580480" y="3950208"/>
            <a:ext cx="4151376" cy="1234440"/>
          </a:xfrm>
          <a:prstGeom prst="rect">
            <a:avLst/>
          </a:prstGeom>
          <a:noFill/>
          <a:ln/>
        </p:spPr>
        <p:txBody>
          <a:bodyPr wrap="square" rtlCol="0" anchor="t"/>
          <a:lstStyle/>
          <a:p>
            <a:pPr indent="0" marL="0">
              <a:lnSpc>
                <a:spcPct val="120000"/>
              </a:lnSpc>
              <a:spcAft>
                <a:spcPts val="600"/>
              </a:spcAft>
              <a:buNone/>
            </a:pPr>
            <a:r>
              <a:rPr lang="en-US" sz="1250" dirty="0">
                <a:solidFill>
                  <a:srgbClr val="5C4D3C"/>
                </a:solidFill>
                <a:latin typeface="Calibri" pitchFamily="34" charset="0"/>
                <a:ea typeface="Calibri" pitchFamily="34" charset="-122"/>
                <a:cs typeface="Calibri" pitchFamily="34" charset="-120"/>
              </a:rPr>
              <a:t>Cara memenuhi naluri dan kebutuhan jasmani sesuai kaidah Akidah Islam.</a:t>
            </a:r>
            <a:endParaRPr lang="en-US" sz="1250" dirty="0"/>
          </a:p>
          <a:p>
            <a:pPr indent="0" marL="0">
              <a:lnSpc>
                <a:spcPct val="120000"/>
              </a:lnSpc>
              <a:buNone/>
            </a:pPr>
            <a:r>
              <a:rPr lang="en-US" sz="1250" i="1" dirty="0">
                <a:solidFill>
                  <a:srgbClr val="0F4C3A"/>
                </a:solidFill>
                <a:latin typeface="Calibri" pitchFamily="34" charset="0"/>
                <a:ea typeface="Calibri" pitchFamily="34" charset="-122"/>
                <a:cs typeface="Calibri" pitchFamily="34" charset="-120"/>
              </a:rPr>
              <a:t>Contoh: memenuhi rasa lapar dengan cara yang halal, bukan mencuri.</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13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sp>
        <p:nvSpPr>
          <p:cNvPr id="14" name="Text 11"/>
          <p:cNvSpPr/>
          <p:nvPr/>
        </p:nvSpPr>
        <p:spPr>
          <a:xfrm>
            <a:off x="0" y="502920"/>
            <a:ext cx="12191695" cy="320040"/>
          </a:xfrm>
          <a:prstGeom prst="rect">
            <a:avLst/>
          </a:prstGeom>
          <a:noFill/>
          <a:ln/>
        </p:spPr>
        <p:txBody>
          <a:bodyPr wrap="square" rtlCol="0" anchor="ctr"/>
          <a:lstStyle/>
          <a:p>
            <a:pPr algn="ctr" indent="0" marL="0">
              <a:buNone/>
            </a:pPr>
            <a:r>
              <a:rPr lang="en-US" sz="1200" b="1" spc="200" kern="0" dirty="0">
                <a:solidFill>
                  <a:srgbClr val="A8760F"/>
                </a:solidFill>
                <a:latin typeface="Calibri" pitchFamily="34" charset="0"/>
                <a:ea typeface="Calibri" pitchFamily="34" charset="-122"/>
                <a:cs typeface="Calibri" pitchFamily="34" charset="-120"/>
              </a:rPr>
              <a:t>08 — EVIDENCE</a:t>
            </a:r>
            <a:endParaRPr lang="en-US" sz="1200" dirty="0"/>
          </a:p>
        </p:txBody>
      </p:sp>
      <p:sp>
        <p:nvSpPr>
          <p:cNvPr id="15" name="Text 12"/>
          <p:cNvSpPr/>
          <p:nvPr/>
        </p:nvSpPr>
        <p:spPr>
          <a:xfrm>
            <a:off x="0" y="868680"/>
            <a:ext cx="12191695" cy="320040"/>
          </a:xfrm>
          <a:prstGeom prst="rect">
            <a:avLst/>
          </a:prstGeom>
          <a:noFill/>
          <a:ln/>
        </p:spPr>
        <p:txBody>
          <a:bodyPr wrap="square" rtlCol="0" anchor="ctr"/>
          <a:lstStyle/>
          <a:p>
            <a:pPr algn="ctr" indent="0" marL="0">
              <a:buNone/>
            </a:pPr>
            <a:r>
              <a:rPr lang="en-US" sz="1400" i="1" dirty="0">
                <a:solidFill>
                  <a:srgbClr val="5C4D3C"/>
                </a:solidFill>
                <a:latin typeface="Cambria" pitchFamily="34" charset="0"/>
                <a:ea typeface="Cambria" pitchFamily="34" charset="-122"/>
                <a:cs typeface="Cambria" pitchFamily="34" charset="-120"/>
              </a:rPr>
              <a:t>Kisah Sahabat (riwayat masyhur dalam sirah)</a:t>
            </a:r>
            <a:endParaRPr lang="en-US" sz="1400" dirty="0"/>
          </a:p>
        </p:txBody>
      </p:sp>
      <p:sp>
        <p:nvSpPr>
          <p:cNvPr id="16" name="Text 13"/>
          <p:cNvSpPr/>
          <p:nvPr/>
        </p:nvSpPr>
        <p:spPr>
          <a:xfrm>
            <a:off x="914400" y="1234440"/>
            <a:ext cx="10362895" cy="685800"/>
          </a:xfrm>
          <a:prstGeom prst="rect">
            <a:avLst/>
          </a:prstGeom>
          <a:noFill/>
          <a:ln/>
        </p:spPr>
        <p:txBody>
          <a:bodyPr wrap="square" rtlCol="0" anchor="ctr"/>
          <a:lstStyle/>
          <a:p>
            <a:pPr algn="ctr" indent="0" marL="0">
              <a:buNone/>
            </a:pPr>
            <a:r>
              <a:rPr lang="en-US" sz="2700" b="1" dirty="0">
                <a:solidFill>
                  <a:srgbClr val="2B2118"/>
                </a:solidFill>
                <a:latin typeface="Cambria" pitchFamily="34" charset="0"/>
                <a:ea typeface="Cambria" pitchFamily="34" charset="-122"/>
                <a:cs typeface="Cambria" pitchFamily="34" charset="-120"/>
              </a:rPr>
              <a:t>Mereka Bergerak Tanpa Menunda</a:t>
            </a:r>
            <a:endParaRPr lang="en-US" sz="2700" dirty="0"/>
          </a:p>
        </p:txBody>
      </p:sp>
      <p:pic>
        <p:nvPicPr>
          <p:cNvPr id="17" name="Image 0" descr="/home/user/nizam-app/presentations/syakhshiyah-islamiyah/assets/icons-png/s12.png">    </p:cNvPr>
          <p:cNvPicPr>
            <a:picLocks noChangeAspect="1"/>
          </p:cNvPicPr>
          <p:nvPr/>
        </p:nvPicPr>
        <p:blipFill>
          <a:blip r:embed="rId1"/>
          <a:stretch>
            <a:fillRect/>
          </a:stretch>
        </p:blipFill>
        <p:spPr>
          <a:xfrm>
            <a:off x="5318608" y="1965960"/>
            <a:ext cx="1554480" cy="1554480"/>
          </a:xfrm>
          <a:prstGeom prst="rect">
            <a:avLst/>
          </a:prstGeom>
        </p:spPr>
      </p:pic>
      <p:sp>
        <p:nvSpPr>
          <p:cNvPr id="18" name="Shape 14"/>
          <p:cNvSpPr/>
          <p:nvPr/>
        </p:nvSpPr>
        <p:spPr>
          <a:xfrm>
            <a:off x="1203808" y="3749040"/>
            <a:ext cx="4663440" cy="1965960"/>
          </a:xfrm>
          <a:prstGeom prst="roundRect">
            <a:avLst>
              <a:gd name="adj" fmla="val 3721"/>
            </a:avLst>
          </a:prstGeom>
          <a:solidFill>
            <a:srgbClr val="ECE0C8"/>
          </a:solidFill>
          <a:ln w="9525">
            <a:solidFill>
              <a:srgbClr val="D8C9A3"/>
            </a:solidFill>
            <a:prstDash val="solid"/>
          </a:ln>
        </p:spPr>
      </p:sp>
      <p:sp>
        <p:nvSpPr>
          <p:cNvPr id="19" name="Text 15"/>
          <p:cNvSpPr/>
          <p:nvPr/>
        </p:nvSpPr>
        <p:spPr>
          <a:xfrm>
            <a:off x="1459840" y="3931920"/>
            <a:ext cx="4151376" cy="365760"/>
          </a:xfrm>
          <a:prstGeom prst="rect">
            <a:avLst/>
          </a:prstGeom>
          <a:noFill/>
          <a:ln/>
        </p:spPr>
        <p:txBody>
          <a:bodyPr wrap="square"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Khamr Dibuang Seketika</a:t>
            </a:r>
            <a:endParaRPr lang="en-US" sz="1600" dirty="0"/>
          </a:p>
        </p:txBody>
      </p:sp>
      <p:sp>
        <p:nvSpPr>
          <p:cNvPr id="20" name="Text 16"/>
          <p:cNvSpPr/>
          <p:nvPr/>
        </p:nvSpPr>
        <p:spPr>
          <a:xfrm>
            <a:off x="1459840" y="4315968"/>
            <a:ext cx="4151376" cy="1234440"/>
          </a:xfrm>
          <a:prstGeom prst="rect">
            <a:avLst/>
          </a:prstGeom>
          <a:noFill/>
          <a:ln/>
        </p:spPr>
        <p:txBody>
          <a:bodyPr wrap="square" rtlCol="0" anchor="t"/>
          <a:lstStyle/>
          <a:p>
            <a:pPr indent="0" marL="0">
              <a:lnSpc>
                <a:spcPct val="120000"/>
              </a:lnSpc>
              <a:spcAft>
                <a:spcPts val="600"/>
              </a:spcAft>
              <a:buNone/>
            </a:pPr>
            <a:r>
              <a:rPr lang="en-US" sz="1250" dirty="0">
                <a:solidFill>
                  <a:srgbClr val="5C4D3C"/>
                </a:solidFill>
                <a:latin typeface="Calibri" pitchFamily="34" charset="0"/>
                <a:ea typeface="Calibri" pitchFamily="34" charset="-122"/>
                <a:cs typeface="Calibri" pitchFamily="34" charset="-120"/>
              </a:rPr>
              <a:t>Begitu ayat pengharaman khamr turun, para sahabat langsung membuang minuman yang ada di tangan mereka — tanpa menunda.</a:t>
            </a:r>
            <a:endParaRPr lang="en-US" sz="1250" dirty="0"/>
          </a:p>
        </p:txBody>
      </p:sp>
      <p:sp>
        <p:nvSpPr>
          <p:cNvPr id="21" name="Shape 17"/>
          <p:cNvSpPr/>
          <p:nvPr/>
        </p:nvSpPr>
        <p:spPr>
          <a:xfrm>
            <a:off x="6324448" y="3749040"/>
            <a:ext cx="4663440" cy="1965960"/>
          </a:xfrm>
          <a:prstGeom prst="roundRect">
            <a:avLst>
              <a:gd name="adj" fmla="val 3721"/>
            </a:avLst>
          </a:prstGeom>
          <a:solidFill>
            <a:srgbClr val="EFE4CC"/>
          </a:solidFill>
          <a:ln w="9525">
            <a:solidFill>
              <a:srgbClr val="D8C9A3"/>
            </a:solidFill>
            <a:prstDash val="solid"/>
          </a:ln>
        </p:spPr>
      </p:sp>
      <p:sp>
        <p:nvSpPr>
          <p:cNvPr id="22" name="Text 18"/>
          <p:cNvSpPr/>
          <p:nvPr/>
        </p:nvSpPr>
        <p:spPr>
          <a:xfrm>
            <a:off x="6580480" y="3931920"/>
            <a:ext cx="4151376" cy="365760"/>
          </a:xfrm>
          <a:prstGeom prst="rect">
            <a:avLst/>
          </a:prstGeom>
          <a:noFill/>
          <a:ln/>
        </p:spPr>
        <p:txBody>
          <a:bodyPr wrap="square" rtlCol="0" anchor="ctr"/>
          <a:lstStyle/>
          <a:p>
            <a:pPr indent="0" marL="0">
              <a:buNone/>
            </a:pPr>
            <a:r>
              <a:rPr lang="en-US" sz="1600" b="1" dirty="0">
                <a:solidFill>
                  <a:srgbClr val="2B2118"/>
                </a:solidFill>
                <a:latin typeface="Cambria" pitchFamily="34" charset="0"/>
                <a:ea typeface="Cambria" pitchFamily="34" charset="-122"/>
                <a:cs typeface="Cambria" pitchFamily="34" charset="-120"/>
              </a:rPr>
              <a:t>Hijab Ditunaikan Seketika</a:t>
            </a:r>
            <a:endParaRPr lang="en-US" sz="1600" dirty="0"/>
          </a:p>
        </p:txBody>
      </p:sp>
      <p:sp>
        <p:nvSpPr>
          <p:cNvPr id="23" name="Text 19"/>
          <p:cNvSpPr/>
          <p:nvPr/>
        </p:nvSpPr>
        <p:spPr>
          <a:xfrm>
            <a:off x="6580480" y="4315968"/>
            <a:ext cx="4151376" cy="1234440"/>
          </a:xfrm>
          <a:prstGeom prst="rect">
            <a:avLst/>
          </a:prstGeom>
          <a:noFill/>
          <a:ln/>
        </p:spPr>
        <p:txBody>
          <a:bodyPr wrap="square" rtlCol="0" anchor="t"/>
          <a:lstStyle/>
          <a:p>
            <a:pPr indent="0" marL="0">
              <a:lnSpc>
                <a:spcPct val="120000"/>
              </a:lnSpc>
              <a:spcAft>
                <a:spcPts val="600"/>
              </a:spcAft>
              <a:buNone/>
            </a:pPr>
            <a:r>
              <a:rPr lang="en-US" sz="1250" dirty="0">
                <a:solidFill>
                  <a:srgbClr val="5C4D3C"/>
                </a:solidFill>
                <a:latin typeface="Calibri" pitchFamily="34" charset="0"/>
                <a:ea typeface="Calibri" pitchFamily="34" charset="-122"/>
                <a:cs typeface="Calibri" pitchFamily="34" charset="-120"/>
              </a:rPr>
              <a:t>Begitu ayat hijab turun, wanita Anshar merobek kain rumah untuk menutup aurat mereka — saat itu juga.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14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13.png">    </p:cNvPr>
          <p:cNvPicPr>
            <a:picLocks noChangeAspect="1"/>
          </p:cNvPicPr>
          <p:nvPr/>
        </p:nvPicPr>
        <p:blipFill>
          <a:blip r:embed="rId1"/>
          <a:stretch>
            <a:fillRect/>
          </a:stretch>
        </p:blipFill>
        <p:spPr>
          <a:xfrm>
            <a:off x="640080" y="2148840"/>
            <a:ext cx="2834640" cy="2834640"/>
          </a:xfrm>
          <a:prstGeom prst="rect">
            <a:avLst/>
          </a:prstGeom>
        </p:spPr>
      </p:pic>
      <p:sp>
        <p:nvSpPr>
          <p:cNvPr id="15" name="Text 11"/>
          <p:cNvSpPr/>
          <p:nvPr/>
        </p:nvSpPr>
        <p:spPr>
          <a:xfrm>
            <a:off x="420624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08 — EVIDENCE</a:t>
            </a:r>
            <a:endParaRPr lang="en-US" sz="1200" dirty="0"/>
          </a:p>
        </p:txBody>
      </p:sp>
      <p:sp>
        <p:nvSpPr>
          <p:cNvPr id="16" name="Text 12"/>
          <p:cNvSpPr/>
          <p:nvPr/>
        </p:nvSpPr>
        <p:spPr>
          <a:xfrm>
            <a:off x="4206240" y="950976"/>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Rujukan Konsep</a:t>
            </a:r>
            <a:endParaRPr lang="en-US" sz="2800" dirty="0"/>
          </a:p>
        </p:txBody>
      </p:sp>
      <p:sp>
        <p:nvSpPr>
          <p:cNvPr id="17" name="Text 13"/>
          <p:cNvSpPr/>
          <p:nvPr/>
        </p:nvSpPr>
        <p:spPr>
          <a:xfrm>
            <a:off x="4206240" y="1911096"/>
            <a:ext cx="6309360" cy="2377440"/>
          </a:xfrm>
          <a:prstGeom prst="rect">
            <a:avLst/>
          </a:prstGeom>
          <a:noFill/>
          <a:ln/>
        </p:spPr>
        <p:txBody>
          <a:bodyPr wrap="square" rtlCol="0" anchor="t"/>
          <a:lstStyle/>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Kerangka ‘aqliyah–nafsiyah dibahas sistematis dalam kitab Syakhshiyah Islamiyah karya Taqiyuddin an-Nabhani.</a:t>
            </a:r>
            <a:endParaRPr lang="en-US" sz="1500" dirty="0"/>
          </a:p>
          <a:p>
            <a:pPr marL="228600" indent="-228600">
              <a:lnSpc>
                <a:spcPct val="125000"/>
              </a:lnSpc>
              <a:spcAft>
                <a:spcPts val="1200"/>
              </a:spcAft>
              <a:buSzPct val="100000"/>
              <a:buChar char="◆"/>
            </a:pPr>
            <a:r>
              <a:rPr lang="en-US" sz="1500" dirty="0">
                <a:solidFill>
                  <a:srgbClr val="5C4D3C"/>
                </a:solidFill>
                <a:latin typeface="Calibri" pitchFamily="34" charset="0"/>
                <a:ea typeface="Calibri" pitchFamily="34" charset="-122"/>
                <a:cs typeface="Calibri" pitchFamily="34" charset="-120"/>
              </a:rPr>
              <a:t>Bukan istilah baru — kerangka ini sudah lama dikaji dalam pembinaan kepribadian Islam.</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15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14.png">    </p:cNvPr>
          <p:cNvPicPr>
            <a:picLocks noChangeAspect="1"/>
          </p:cNvPicPr>
          <p:nvPr/>
        </p:nvPicPr>
        <p:blipFill>
          <a:blip r:embed="rId1"/>
          <a:stretch>
            <a:fillRect/>
          </a:stretch>
        </p:blipFill>
        <p:spPr>
          <a:xfrm>
            <a:off x="8442655" y="2148840"/>
            <a:ext cx="2834640" cy="2834640"/>
          </a:xfrm>
          <a:prstGeom prst="rect">
            <a:avLst/>
          </a:prstGeom>
        </p:spPr>
      </p:pic>
      <p:sp>
        <p:nvSpPr>
          <p:cNvPr id="15" name="Text 11"/>
          <p:cNvSpPr/>
          <p:nvPr/>
        </p:nvSpPr>
        <p:spPr>
          <a:xfrm>
            <a:off x="64008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09 — ACTION PLAN</a:t>
            </a:r>
            <a:endParaRPr lang="en-US" sz="1200" dirty="0"/>
          </a:p>
        </p:txBody>
      </p:sp>
      <p:sp>
        <p:nvSpPr>
          <p:cNvPr id="16" name="Text 12"/>
          <p:cNvSpPr/>
          <p:nvPr/>
        </p:nvSpPr>
        <p:spPr>
          <a:xfrm>
            <a:off x="640080" y="950976"/>
            <a:ext cx="6035040" cy="365760"/>
          </a:xfrm>
          <a:prstGeom prst="rect">
            <a:avLst/>
          </a:prstGeom>
          <a:noFill/>
          <a:ln/>
        </p:spPr>
        <p:txBody>
          <a:bodyPr wrap="square" rtlCol="0" anchor="ctr"/>
          <a:lstStyle/>
          <a:p>
            <a:pPr indent="0" marL="0">
              <a:buNone/>
            </a:pPr>
            <a:r>
              <a:rPr lang="en-US" sz="1400" i="1" dirty="0">
                <a:solidFill>
                  <a:srgbClr val="5C4D3C"/>
                </a:solidFill>
                <a:latin typeface="Cambria" pitchFamily="34" charset="0"/>
                <a:ea typeface="Cambria" pitchFamily="34" charset="-122"/>
                <a:cs typeface="Cambria" pitchFamily="34" charset="-120"/>
              </a:rPr>
              <a:t>Quick Win — 0–30 hari</a:t>
            </a:r>
            <a:endParaRPr lang="en-US" sz="1400" dirty="0"/>
          </a:p>
        </p:txBody>
      </p:sp>
      <p:sp>
        <p:nvSpPr>
          <p:cNvPr id="17" name="Text 13"/>
          <p:cNvSpPr/>
          <p:nvPr/>
        </p:nvSpPr>
        <p:spPr>
          <a:xfrm>
            <a:off x="640080" y="1335024"/>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Mulai dari yang Kecil, Hari Ini</a:t>
            </a:r>
            <a:endParaRPr lang="en-US" sz="2800" dirty="0"/>
          </a:p>
        </p:txBody>
      </p:sp>
      <p:sp>
        <p:nvSpPr>
          <p:cNvPr id="18" name="Shape 14"/>
          <p:cNvSpPr/>
          <p:nvPr/>
        </p:nvSpPr>
        <p:spPr>
          <a:xfrm>
            <a:off x="640080" y="2322576"/>
            <a:ext cx="219456" cy="219456"/>
          </a:xfrm>
          <a:prstGeom prst="roundRect">
            <a:avLst>
              <a:gd name="adj" fmla="val 12500"/>
            </a:avLst>
          </a:prstGeom>
          <a:solidFill>
            <a:srgbClr val="F4ECDC"/>
          </a:solidFill>
          <a:ln w="17780">
            <a:solidFill>
              <a:srgbClr val="8A5D10"/>
            </a:solidFill>
            <a:prstDash val="solid"/>
          </a:ln>
        </p:spPr>
      </p:sp>
      <p:sp>
        <p:nvSpPr>
          <p:cNvPr id="19" name="Text 15"/>
          <p:cNvSpPr/>
          <p:nvPr/>
        </p:nvSpPr>
        <p:spPr>
          <a:xfrm>
            <a:off x="1005840" y="2249424"/>
            <a:ext cx="5852160" cy="594360"/>
          </a:xfrm>
          <a:prstGeom prst="rect">
            <a:avLst/>
          </a:prstGeom>
          <a:noFill/>
          <a:ln/>
        </p:spPr>
        <p:txBody>
          <a:bodyPr wrap="square" rtlCol="0" anchor="t"/>
          <a:lstStyle/>
          <a:p>
            <a:pPr indent="0" marL="0">
              <a:buNone/>
            </a:pPr>
            <a:r>
              <a:rPr lang="en-US" sz="1500" dirty="0">
                <a:solidFill>
                  <a:srgbClr val="5C4D3C"/>
                </a:solidFill>
                <a:latin typeface="Calibri" pitchFamily="34" charset="0"/>
                <a:ea typeface="Calibri" pitchFamily="34" charset="-122"/>
                <a:cs typeface="Calibri" pitchFamily="34" charset="-120"/>
              </a:rPr>
              <a:t>Biasakan tanya “ini boleh atau enggak menurut Islam?” sebelum ambil keputusan kecil.</a:t>
            </a:r>
            <a:endParaRPr lang="en-US" sz="1500" dirty="0"/>
          </a:p>
        </p:txBody>
      </p:sp>
      <p:sp>
        <p:nvSpPr>
          <p:cNvPr id="20" name="Shape 16"/>
          <p:cNvSpPr/>
          <p:nvPr/>
        </p:nvSpPr>
        <p:spPr>
          <a:xfrm>
            <a:off x="640080" y="2980944"/>
            <a:ext cx="219456" cy="219456"/>
          </a:xfrm>
          <a:prstGeom prst="roundRect">
            <a:avLst>
              <a:gd name="adj" fmla="val 12500"/>
            </a:avLst>
          </a:prstGeom>
          <a:solidFill>
            <a:srgbClr val="F4ECDC"/>
          </a:solidFill>
          <a:ln w="17780">
            <a:solidFill>
              <a:srgbClr val="8A5D10"/>
            </a:solidFill>
            <a:prstDash val="solid"/>
          </a:ln>
        </p:spPr>
      </p:sp>
      <p:sp>
        <p:nvSpPr>
          <p:cNvPr id="21" name="Text 17"/>
          <p:cNvSpPr/>
          <p:nvPr/>
        </p:nvSpPr>
        <p:spPr>
          <a:xfrm>
            <a:off x="1005840" y="2907792"/>
            <a:ext cx="5852160" cy="594360"/>
          </a:xfrm>
          <a:prstGeom prst="rect">
            <a:avLst/>
          </a:prstGeom>
          <a:noFill/>
          <a:ln/>
        </p:spPr>
        <p:txBody>
          <a:bodyPr wrap="square" rtlCol="0" anchor="t"/>
          <a:lstStyle/>
          <a:p>
            <a:pPr indent="0" marL="0">
              <a:buNone/>
            </a:pPr>
            <a:r>
              <a:rPr lang="en-US" sz="1500" dirty="0">
                <a:solidFill>
                  <a:srgbClr val="5C4D3C"/>
                </a:solidFill>
                <a:latin typeface="Calibri" pitchFamily="34" charset="0"/>
                <a:ea typeface="Calibri" pitchFamily="34" charset="-122"/>
                <a:cs typeface="Calibri" pitchFamily="34" charset="-120"/>
              </a:rPr>
              <a:t>Jaga sholat tepat waktu, jangan ditunda-tunda.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CDC"/>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2B2118">
                <a:alpha val="18000"/>
              </a:srgbClr>
            </a:solidFill>
            <a:prstDash val="solid"/>
          </a:ln>
        </p:spPr>
      </p:sp>
      <p:sp>
        <p:nvSpPr>
          <p:cNvPr id="3" name="Shape 1"/>
          <p:cNvSpPr/>
          <p:nvPr/>
        </p:nvSpPr>
        <p:spPr>
          <a:xfrm>
            <a:off x="365760" y="365760"/>
            <a:ext cx="237744" cy="0"/>
          </a:xfrm>
          <a:prstGeom prst="line">
            <a:avLst/>
          </a:prstGeom>
          <a:noFill/>
          <a:ln w="19050">
            <a:solidFill>
              <a:srgbClr val="8A5D10"/>
            </a:solidFill>
            <a:prstDash val="solid"/>
          </a:ln>
        </p:spPr>
      </p:sp>
      <p:sp>
        <p:nvSpPr>
          <p:cNvPr id="4" name="Shape 2"/>
          <p:cNvSpPr/>
          <p:nvPr/>
        </p:nvSpPr>
        <p:spPr>
          <a:xfrm>
            <a:off x="365760" y="365760"/>
            <a:ext cx="0" cy="237744"/>
          </a:xfrm>
          <a:prstGeom prst="line">
            <a:avLst/>
          </a:prstGeom>
          <a:noFill/>
          <a:ln w="19050">
            <a:solidFill>
              <a:srgbClr val="8A5D10"/>
            </a:solidFill>
            <a:prstDash val="solid"/>
          </a:ln>
        </p:spPr>
      </p:sp>
      <p:sp>
        <p:nvSpPr>
          <p:cNvPr id="5" name="Shape 3"/>
          <p:cNvSpPr/>
          <p:nvPr/>
        </p:nvSpPr>
        <p:spPr>
          <a:xfrm>
            <a:off x="11825935" y="365760"/>
            <a:ext cx="-237744" cy="0"/>
          </a:xfrm>
          <a:prstGeom prst="line">
            <a:avLst/>
          </a:prstGeom>
          <a:noFill/>
          <a:ln w="19050">
            <a:solidFill>
              <a:srgbClr val="8A5D10"/>
            </a:solidFill>
            <a:prstDash val="solid"/>
          </a:ln>
        </p:spPr>
      </p:sp>
      <p:sp>
        <p:nvSpPr>
          <p:cNvPr id="6" name="Shape 4"/>
          <p:cNvSpPr/>
          <p:nvPr/>
        </p:nvSpPr>
        <p:spPr>
          <a:xfrm>
            <a:off x="11825935" y="365760"/>
            <a:ext cx="0" cy="237744"/>
          </a:xfrm>
          <a:prstGeom prst="line">
            <a:avLst/>
          </a:prstGeom>
          <a:noFill/>
          <a:ln w="19050">
            <a:solidFill>
              <a:srgbClr val="8A5D10"/>
            </a:solidFill>
            <a:prstDash val="solid"/>
          </a:ln>
        </p:spPr>
      </p:sp>
      <p:sp>
        <p:nvSpPr>
          <p:cNvPr id="7" name="Shape 5"/>
          <p:cNvSpPr/>
          <p:nvPr/>
        </p:nvSpPr>
        <p:spPr>
          <a:xfrm>
            <a:off x="365760" y="6492240"/>
            <a:ext cx="237744" cy="0"/>
          </a:xfrm>
          <a:prstGeom prst="line">
            <a:avLst/>
          </a:prstGeom>
          <a:noFill/>
          <a:ln w="19050">
            <a:solidFill>
              <a:srgbClr val="8A5D10"/>
            </a:solidFill>
            <a:prstDash val="solid"/>
          </a:ln>
        </p:spPr>
      </p:sp>
      <p:sp>
        <p:nvSpPr>
          <p:cNvPr id="8" name="Shape 6"/>
          <p:cNvSpPr/>
          <p:nvPr/>
        </p:nvSpPr>
        <p:spPr>
          <a:xfrm>
            <a:off x="365760" y="6492240"/>
            <a:ext cx="0" cy="-237744"/>
          </a:xfrm>
          <a:prstGeom prst="line">
            <a:avLst/>
          </a:prstGeom>
          <a:noFill/>
          <a:ln w="19050">
            <a:solidFill>
              <a:srgbClr val="8A5D10"/>
            </a:solidFill>
            <a:prstDash val="solid"/>
          </a:ln>
        </p:spPr>
      </p:sp>
      <p:sp>
        <p:nvSpPr>
          <p:cNvPr id="9" name="Shape 7"/>
          <p:cNvSpPr/>
          <p:nvPr/>
        </p:nvSpPr>
        <p:spPr>
          <a:xfrm>
            <a:off x="11825935" y="6492240"/>
            <a:ext cx="-237744" cy="0"/>
          </a:xfrm>
          <a:prstGeom prst="line">
            <a:avLst/>
          </a:prstGeom>
          <a:noFill/>
          <a:ln w="19050">
            <a:solidFill>
              <a:srgbClr val="8A5D10"/>
            </a:solidFill>
            <a:prstDash val="solid"/>
          </a:ln>
        </p:spPr>
      </p:sp>
      <p:sp>
        <p:nvSpPr>
          <p:cNvPr id="10" name="Shape 8"/>
          <p:cNvSpPr/>
          <p:nvPr/>
        </p:nvSpPr>
        <p:spPr>
          <a:xfrm>
            <a:off x="11825935" y="6492240"/>
            <a:ext cx="0" cy="-237744"/>
          </a:xfrm>
          <a:prstGeom prst="line">
            <a:avLst/>
          </a:prstGeom>
          <a:noFill/>
          <a:ln w="19050">
            <a:solidFill>
              <a:srgbClr val="8A5D10"/>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5C4D3C"/>
                </a:solidFill>
                <a:latin typeface="Calibri" pitchFamily="34" charset="0"/>
                <a:ea typeface="Calibri" pitchFamily="34" charset="-122"/>
                <a:cs typeface="Calibri" pitchFamily="34" charset="-120"/>
              </a:rPr>
              <a:t>16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5C4D3C"/>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15.png">    </p:cNvPr>
          <p:cNvPicPr>
            <a:picLocks noChangeAspect="1"/>
          </p:cNvPicPr>
          <p:nvPr/>
        </p:nvPicPr>
        <p:blipFill>
          <a:blip r:embed="rId1"/>
          <a:stretch>
            <a:fillRect/>
          </a:stretch>
        </p:blipFill>
        <p:spPr>
          <a:xfrm>
            <a:off x="640080" y="2148840"/>
            <a:ext cx="2834640" cy="2834640"/>
          </a:xfrm>
          <a:prstGeom prst="rect">
            <a:avLst/>
          </a:prstGeom>
        </p:spPr>
      </p:pic>
      <p:sp>
        <p:nvSpPr>
          <p:cNvPr id="15" name="Text 11"/>
          <p:cNvSpPr/>
          <p:nvPr/>
        </p:nvSpPr>
        <p:spPr>
          <a:xfrm>
            <a:off x="4206240" y="566928"/>
            <a:ext cx="6035040" cy="320040"/>
          </a:xfrm>
          <a:prstGeom prst="rect">
            <a:avLst/>
          </a:prstGeom>
          <a:noFill/>
          <a:ln/>
        </p:spPr>
        <p:txBody>
          <a:bodyPr wrap="square" rtlCol="0" anchor="ctr"/>
          <a:lstStyle/>
          <a:p>
            <a:pPr indent="0" marL="0">
              <a:buNone/>
            </a:pPr>
            <a:r>
              <a:rPr lang="en-US" sz="1200" b="1" spc="200" kern="0" dirty="0">
                <a:solidFill>
                  <a:srgbClr val="A8760F"/>
                </a:solidFill>
                <a:latin typeface="Calibri" pitchFamily="34" charset="0"/>
                <a:ea typeface="Calibri" pitchFamily="34" charset="-122"/>
                <a:cs typeface="Calibri" pitchFamily="34" charset="-120"/>
              </a:rPr>
              <a:t>09 — ACTION PLAN</a:t>
            </a:r>
            <a:endParaRPr lang="en-US" sz="1200" dirty="0"/>
          </a:p>
        </p:txBody>
      </p:sp>
      <p:sp>
        <p:nvSpPr>
          <p:cNvPr id="16" name="Text 12"/>
          <p:cNvSpPr/>
          <p:nvPr/>
        </p:nvSpPr>
        <p:spPr>
          <a:xfrm>
            <a:off x="4206240" y="950976"/>
            <a:ext cx="6035040" cy="365760"/>
          </a:xfrm>
          <a:prstGeom prst="rect">
            <a:avLst/>
          </a:prstGeom>
          <a:noFill/>
          <a:ln/>
        </p:spPr>
        <p:txBody>
          <a:bodyPr wrap="square" rtlCol="0" anchor="ctr"/>
          <a:lstStyle/>
          <a:p>
            <a:pPr indent="0" marL="0">
              <a:buNone/>
            </a:pPr>
            <a:r>
              <a:rPr lang="en-US" sz="1400" i="1" dirty="0">
                <a:solidFill>
                  <a:srgbClr val="5C4D3C"/>
                </a:solidFill>
                <a:latin typeface="Cambria" pitchFamily="34" charset="0"/>
                <a:ea typeface="Cambria" pitchFamily="34" charset="-122"/>
                <a:cs typeface="Cambria" pitchFamily="34" charset="-120"/>
              </a:rPr>
              <a:t>Long Term Strategy — 3–12 bulan</a:t>
            </a:r>
            <a:endParaRPr lang="en-US" sz="1400" dirty="0"/>
          </a:p>
        </p:txBody>
      </p:sp>
      <p:sp>
        <p:nvSpPr>
          <p:cNvPr id="17" name="Text 13"/>
          <p:cNvSpPr/>
          <p:nvPr/>
        </p:nvSpPr>
        <p:spPr>
          <a:xfrm>
            <a:off x="4206240" y="1335024"/>
            <a:ext cx="6309360" cy="777240"/>
          </a:xfrm>
          <a:prstGeom prst="rect">
            <a:avLst/>
          </a:prstGeom>
          <a:noFill/>
          <a:ln/>
        </p:spPr>
        <p:txBody>
          <a:bodyPr wrap="square" rtlCol="0" anchor="t"/>
          <a:lstStyle/>
          <a:p>
            <a:pPr indent="0" marL="0">
              <a:buNone/>
            </a:pPr>
            <a:r>
              <a:rPr lang="en-US" sz="2800" b="1" dirty="0">
                <a:solidFill>
                  <a:srgbClr val="2B2118"/>
                </a:solidFill>
                <a:latin typeface="Cambria" pitchFamily="34" charset="0"/>
                <a:ea typeface="Cambria" pitchFamily="34" charset="-122"/>
                <a:cs typeface="Cambria" pitchFamily="34" charset="-120"/>
              </a:rPr>
              <a:t>Langkah Berkelanjutan</a:t>
            </a:r>
            <a:endParaRPr lang="en-US" sz="2800" dirty="0"/>
          </a:p>
        </p:txBody>
      </p:sp>
      <p:sp>
        <p:nvSpPr>
          <p:cNvPr id="18" name="Shape 14"/>
          <p:cNvSpPr/>
          <p:nvPr/>
        </p:nvSpPr>
        <p:spPr>
          <a:xfrm>
            <a:off x="4206240" y="2322576"/>
            <a:ext cx="219456" cy="219456"/>
          </a:xfrm>
          <a:prstGeom prst="roundRect">
            <a:avLst>
              <a:gd name="adj" fmla="val 12500"/>
            </a:avLst>
          </a:prstGeom>
          <a:solidFill>
            <a:srgbClr val="F4ECDC"/>
          </a:solidFill>
          <a:ln w="17780">
            <a:solidFill>
              <a:srgbClr val="8A5D10"/>
            </a:solidFill>
            <a:prstDash val="solid"/>
          </a:ln>
        </p:spPr>
      </p:sp>
      <p:sp>
        <p:nvSpPr>
          <p:cNvPr id="19" name="Text 15"/>
          <p:cNvSpPr/>
          <p:nvPr/>
        </p:nvSpPr>
        <p:spPr>
          <a:xfrm>
            <a:off x="4572000" y="2249424"/>
            <a:ext cx="5852160" cy="594360"/>
          </a:xfrm>
          <a:prstGeom prst="rect">
            <a:avLst/>
          </a:prstGeom>
          <a:noFill/>
          <a:ln/>
        </p:spPr>
        <p:txBody>
          <a:bodyPr wrap="square" rtlCol="0" anchor="t"/>
          <a:lstStyle/>
          <a:p>
            <a:pPr indent="0" marL="0">
              <a:buNone/>
            </a:pPr>
            <a:r>
              <a:rPr lang="en-US" sz="1500" dirty="0">
                <a:solidFill>
                  <a:srgbClr val="5C4D3C"/>
                </a:solidFill>
                <a:latin typeface="Calibri" pitchFamily="34" charset="0"/>
                <a:ea typeface="Calibri" pitchFamily="34" charset="-122"/>
                <a:cs typeface="Calibri" pitchFamily="34" charset="-120"/>
              </a:rPr>
              <a:t>Ikut kajian sistematis tentang akidah dan hukum syara’.</a:t>
            </a:r>
            <a:endParaRPr lang="en-US" sz="1500" dirty="0"/>
          </a:p>
        </p:txBody>
      </p:sp>
      <p:sp>
        <p:nvSpPr>
          <p:cNvPr id="20" name="Shape 16"/>
          <p:cNvSpPr/>
          <p:nvPr/>
        </p:nvSpPr>
        <p:spPr>
          <a:xfrm>
            <a:off x="4206240" y="2980944"/>
            <a:ext cx="219456" cy="219456"/>
          </a:xfrm>
          <a:prstGeom prst="roundRect">
            <a:avLst>
              <a:gd name="adj" fmla="val 12500"/>
            </a:avLst>
          </a:prstGeom>
          <a:solidFill>
            <a:srgbClr val="F4ECDC"/>
          </a:solidFill>
          <a:ln w="17780">
            <a:solidFill>
              <a:srgbClr val="8A5D10"/>
            </a:solidFill>
            <a:prstDash val="solid"/>
          </a:ln>
        </p:spPr>
      </p:sp>
      <p:sp>
        <p:nvSpPr>
          <p:cNvPr id="21" name="Text 17"/>
          <p:cNvSpPr/>
          <p:nvPr/>
        </p:nvSpPr>
        <p:spPr>
          <a:xfrm>
            <a:off x="4572000" y="2907792"/>
            <a:ext cx="5852160" cy="594360"/>
          </a:xfrm>
          <a:prstGeom prst="rect">
            <a:avLst/>
          </a:prstGeom>
          <a:noFill/>
          <a:ln/>
        </p:spPr>
        <p:txBody>
          <a:bodyPr wrap="square" rtlCol="0" anchor="t"/>
          <a:lstStyle/>
          <a:p>
            <a:pPr indent="0" marL="0">
              <a:buNone/>
            </a:pPr>
            <a:r>
              <a:rPr lang="en-US" sz="1500" dirty="0">
                <a:solidFill>
                  <a:srgbClr val="5C4D3C"/>
                </a:solidFill>
                <a:latin typeface="Calibri" pitchFamily="34" charset="0"/>
                <a:ea typeface="Calibri" pitchFamily="34" charset="-122"/>
                <a:cs typeface="Calibri" pitchFamily="34" charset="-120"/>
              </a:rPr>
              <a:t>Gabung halaqah / pembinaan rutin — bukan proyek sendirian.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1A12"/>
        </a:solidFill>
      </p:bgPr>
    </p:bg>
    <p:spTree>
      <p:nvGrpSpPr>
        <p:cNvPr id="1" name=""/>
        <p:cNvGrpSpPr/>
        <p:nvPr/>
      </p:nvGrpSpPr>
      <p:grpSpPr>
        <a:xfrm>
          <a:off x="0" y="0"/>
          <a:ext cx="0" cy="0"/>
          <a:chOff x="0" y="0"/>
          <a:chExt cx="0" cy="0"/>
        </a:xfrm>
      </p:grpSpPr>
      <p:sp>
        <p:nvSpPr>
          <p:cNvPr id="2" name="Shape 0"/>
          <p:cNvSpPr/>
          <p:nvPr/>
        </p:nvSpPr>
        <p:spPr>
          <a:xfrm>
            <a:off x="256032" y="256032"/>
            <a:ext cx="11679631" cy="6345936"/>
          </a:xfrm>
          <a:prstGeom prst="rect">
            <a:avLst/>
          </a:prstGeom>
          <a:ln w="9525">
            <a:solidFill>
              <a:srgbClr val="F4ECDC">
                <a:alpha val="22000"/>
              </a:srgbClr>
            </a:solidFill>
            <a:prstDash val="solid"/>
          </a:ln>
        </p:spPr>
      </p:sp>
      <p:sp>
        <p:nvSpPr>
          <p:cNvPr id="3" name="Shape 1"/>
          <p:cNvSpPr/>
          <p:nvPr/>
        </p:nvSpPr>
        <p:spPr>
          <a:xfrm>
            <a:off x="365760" y="365760"/>
            <a:ext cx="237744" cy="0"/>
          </a:xfrm>
          <a:prstGeom prst="line">
            <a:avLst/>
          </a:prstGeom>
          <a:noFill/>
          <a:ln w="19050">
            <a:solidFill>
              <a:srgbClr val="CF9A2E"/>
            </a:solidFill>
            <a:prstDash val="solid"/>
          </a:ln>
        </p:spPr>
      </p:sp>
      <p:sp>
        <p:nvSpPr>
          <p:cNvPr id="4" name="Shape 2"/>
          <p:cNvSpPr/>
          <p:nvPr/>
        </p:nvSpPr>
        <p:spPr>
          <a:xfrm>
            <a:off x="365760" y="365760"/>
            <a:ext cx="0" cy="237744"/>
          </a:xfrm>
          <a:prstGeom prst="line">
            <a:avLst/>
          </a:prstGeom>
          <a:noFill/>
          <a:ln w="19050">
            <a:solidFill>
              <a:srgbClr val="CF9A2E"/>
            </a:solidFill>
            <a:prstDash val="solid"/>
          </a:ln>
        </p:spPr>
      </p:sp>
      <p:sp>
        <p:nvSpPr>
          <p:cNvPr id="5" name="Shape 3"/>
          <p:cNvSpPr/>
          <p:nvPr/>
        </p:nvSpPr>
        <p:spPr>
          <a:xfrm>
            <a:off x="11825935" y="365760"/>
            <a:ext cx="-237744" cy="0"/>
          </a:xfrm>
          <a:prstGeom prst="line">
            <a:avLst/>
          </a:prstGeom>
          <a:noFill/>
          <a:ln w="19050">
            <a:solidFill>
              <a:srgbClr val="CF9A2E"/>
            </a:solidFill>
            <a:prstDash val="solid"/>
          </a:ln>
        </p:spPr>
      </p:sp>
      <p:sp>
        <p:nvSpPr>
          <p:cNvPr id="6" name="Shape 4"/>
          <p:cNvSpPr/>
          <p:nvPr/>
        </p:nvSpPr>
        <p:spPr>
          <a:xfrm>
            <a:off x="11825935" y="365760"/>
            <a:ext cx="0" cy="237744"/>
          </a:xfrm>
          <a:prstGeom prst="line">
            <a:avLst/>
          </a:prstGeom>
          <a:noFill/>
          <a:ln w="19050">
            <a:solidFill>
              <a:srgbClr val="CF9A2E"/>
            </a:solidFill>
            <a:prstDash val="solid"/>
          </a:ln>
        </p:spPr>
      </p:sp>
      <p:sp>
        <p:nvSpPr>
          <p:cNvPr id="7" name="Shape 5"/>
          <p:cNvSpPr/>
          <p:nvPr/>
        </p:nvSpPr>
        <p:spPr>
          <a:xfrm>
            <a:off x="365760" y="6492240"/>
            <a:ext cx="237744" cy="0"/>
          </a:xfrm>
          <a:prstGeom prst="line">
            <a:avLst/>
          </a:prstGeom>
          <a:noFill/>
          <a:ln w="19050">
            <a:solidFill>
              <a:srgbClr val="CF9A2E"/>
            </a:solidFill>
            <a:prstDash val="solid"/>
          </a:ln>
        </p:spPr>
      </p:sp>
      <p:sp>
        <p:nvSpPr>
          <p:cNvPr id="8" name="Shape 6"/>
          <p:cNvSpPr/>
          <p:nvPr/>
        </p:nvSpPr>
        <p:spPr>
          <a:xfrm>
            <a:off x="365760" y="6492240"/>
            <a:ext cx="0" cy="-237744"/>
          </a:xfrm>
          <a:prstGeom prst="line">
            <a:avLst/>
          </a:prstGeom>
          <a:noFill/>
          <a:ln w="19050">
            <a:solidFill>
              <a:srgbClr val="CF9A2E"/>
            </a:solidFill>
            <a:prstDash val="solid"/>
          </a:ln>
        </p:spPr>
      </p:sp>
      <p:sp>
        <p:nvSpPr>
          <p:cNvPr id="9" name="Shape 7"/>
          <p:cNvSpPr/>
          <p:nvPr/>
        </p:nvSpPr>
        <p:spPr>
          <a:xfrm>
            <a:off x="11825935" y="6492240"/>
            <a:ext cx="-237744" cy="0"/>
          </a:xfrm>
          <a:prstGeom prst="line">
            <a:avLst/>
          </a:prstGeom>
          <a:noFill/>
          <a:ln w="19050">
            <a:solidFill>
              <a:srgbClr val="CF9A2E"/>
            </a:solidFill>
            <a:prstDash val="solid"/>
          </a:ln>
        </p:spPr>
      </p:sp>
      <p:sp>
        <p:nvSpPr>
          <p:cNvPr id="10" name="Shape 8"/>
          <p:cNvSpPr/>
          <p:nvPr/>
        </p:nvSpPr>
        <p:spPr>
          <a:xfrm>
            <a:off x="11825935" y="6492240"/>
            <a:ext cx="0" cy="-237744"/>
          </a:xfrm>
          <a:prstGeom prst="line">
            <a:avLst/>
          </a:prstGeom>
          <a:noFill/>
          <a:ln w="19050">
            <a:solidFill>
              <a:srgbClr val="CF9A2E"/>
            </a:solidFill>
            <a:prstDash val="solid"/>
          </a:ln>
        </p:spPr>
      </p:sp>
      <p:sp>
        <p:nvSpPr>
          <p:cNvPr id="11" name="Text 9"/>
          <p:cNvSpPr/>
          <p:nvPr/>
        </p:nvSpPr>
        <p:spPr>
          <a:xfrm>
            <a:off x="548640" y="6291072"/>
            <a:ext cx="1828800" cy="292608"/>
          </a:xfrm>
          <a:prstGeom prst="rect">
            <a:avLst/>
          </a:prstGeom>
          <a:noFill/>
          <a:ln/>
        </p:spPr>
        <p:txBody>
          <a:bodyPr wrap="square" rtlCol="0" anchor="ctr"/>
          <a:lstStyle/>
          <a:p>
            <a:pPr indent="0" marL="0">
              <a:buNone/>
            </a:pPr>
            <a:r>
              <a:rPr lang="en-US" sz="900" spc="100" kern="0" dirty="0">
                <a:solidFill>
                  <a:srgbClr val="C9B896"/>
                </a:solidFill>
                <a:latin typeface="Calibri" pitchFamily="34" charset="0"/>
                <a:ea typeface="Calibri" pitchFamily="34" charset="-122"/>
                <a:cs typeface="Calibri" pitchFamily="34" charset="-120"/>
              </a:rPr>
              <a:t>17 / 17</a:t>
            </a:r>
            <a:endParaRPr lang="en-US" sz="900" dirty="0"/>
          </a:p>
        </p:txBody>
      </p:sp>
      <p:sp>
        <p:nvSpPr>
          <p:cNvPr id="12" name="Text 10"/>
          <p:cNvSpPr/>
          <p:nvPr/>
        </p:nvSpPr>
        <p:spPr>
          <a:xfrm>
            <a:off x="7071055" y="6291072"/>
            <a:ext cx="4572000" cy="292608"/>
          </a:xfrm>
          <a:prstGeom prst="rect">
            <a:avLst/>
          </a:prstGeom>
          <a:noFill/>
          <a:ln/>
        </p:spPr>
        <p:txBody>
          <a:bodyPr wrap="square" rtlCol="0" anchor="ctr"/>
          <a:lstStyle/>
          <a:p>
            <a:pPr algn="r" indent="0" marL="0">
              <a:buNone/>
            </a:pPr>
            <a:r>
              <a:rPr lang="en-US" sz="900" spc="100" kern="0" dirty="0">
                <a:solidFill>
                  <a:srgbClr val="C9B896"/>
                </a:solidFill>
                <a:latin typeface="Calibri" pitchFamily="34" charset="0"/>
                <a:ea typeface="Calibri" pitchFamily="34" charset="-122"/>
                <a:cs typeface="Calibri" pitchFamily="34" charset="-120"/>
              </a:rPr>
              <a:t>SYAKHSHIYAH DAN SYAKHSHIYAH ISLAMIYYAH</a:t>
            </a:r>
            <a:endParaRPr lang="en-US" sz="900" dirty="0"/>
          </a:p>
        </p:txBody>
      </p:sp>
      <p:pic>
        <p:nvPicPr>
          <p:cNvPr id="14" name="Image 0" descr="/home/user/nizam-app/presentations/syakhshiyah-islamiyah/assets/icons-png/s16.png">    </p:cNvPr>
          <p:cNvPicPr>
            <a:picLocks noChangeAspect="1"/>
          </p:cNvPicPr>
          <p:nvPr/>
        </p:nvPicPr>
        <p:blipFill>
          <a:blip r:embed="rId1"/>
          <a:stretch>
            <a:fillRect/>
          </a:stretch>
        </p:blipFill>
        <p:spPr>
          <a:xfrm>
            <a:off x="5135728" y="502920"/>
            <a:ext cx="1920240" cy="1920240"/>
          </a:xfrm>
          <a:prstGeom prst="rect">
            <a:avLst/>
          </a:prstGeom>
        </p:spPr>
      </p:pic>
      <p:sp>
        <p:nvSpPr>
          <p:cNvPr id="15" name="Text 11"/>
          <p:cNvSpPr/>
          <p:nvPr/>
        </p:nvSpPr>
        <p:spPr>
          <a:xfrm>
            <a:off x="0" y="2514600"/>
            <a:ext cx="12191695" cy="320040"/>
          </a:xfrm>
          <a:prstGeom prst="rect">
            <a:avLst/>
          </a:prstGeom>
          <a:noFill/>
          <a:ln/>
        </p:spPr>
        <p:txBody>
          <a:bodyPr wrap="square" rtlCol="0" anchor="ctr"/>
          <a:lstStyle/>
          <a:p>
            <a:pPr algn="ctr" indent="0" marL="0">
              <a:buNone/>
            </a:pPr>
            <a:r>
              <a:rPr lang="en-US" sz="1200" b="1" spc="200" kern="0" dirty="0">
                <a:solidFill>
                  <a:srgbClr val="A8760F"/>
                </a:solidFill>
                <a:latin typeface="Calibri" pitchFamily="34" charset="0"/>
                <a:ea typeface="Calibri" pitchFamily="34" charset="-122"/>
                <a:cs typeface="Calibri" pitchFamily="34" charset="-120"/>
              </a:rPr>
              <a:t>PENUTUP — CTA</a:t>
            </a:r>
            <a:endParaRPr lang="en-US" sz="1200" dirty="0"/>
          </a:p>
        </p:txBody>
      </p:sp>
      <p:sp>
        <p:nvSpPr>
          <p:cNvPr id="16" name="Text 12"/>
          <p:cNvSpPr/>
          <p:nvPr/>
        </p:nvSpPr>
        <p:spPr>
          <a:xfrm>
            <a:off x="914400" y="2880360"/>
            <a:ext cx="10362895" cy="914400"/>
          </a:xfrm>
          <a:prstGeom prst="rect">
            <a:avLst/>
          </a:prstGeom>
          <a:noFill/>
          <a:ln/>
        </p:spPr>
        <p:txBody>
          <a:bodyPr wrap="square" rtlCol="0" anchor="ctr"/>
          <a:lstStyle/>
          <a:p>
            <a:pPr algn="ctr" indent="0" marL="0">
              <a:buNone/>
            </a:pPr>
            <a:r>
              <a:rPr lang="en-US" sz="3200" b="1" dirty="0">
                <a:solidFill>
                  <a:srgbClr val="F4ECDC"/>
                </a:solidFill>
                <a:latin typeface="Cambria" pitchFamily="34" charset="0"/>
                <a:ea typeface="Cambria" pitchFamily="34" charset="-122"/>
                <a:cs typeface="Cambria" pitchFamily="34" charset="-120"/>
              </a:rPr>
              <a:t>Jadi, Standar Siapa yang Kamu Pakai?</a:t>
            </a:r>
            <a:endParaRPr lang="en-US" sz="3200" dirty="0"/>
          </a:p>
        </p:txBody>
      </p:sp>
      <p:sp>
        <p:nvSpPr>
          <p:cNvPr id="17" name="Text 13"/>
          <p:cNvSpPr/>
          <p:nvPr/>
        </p:nvSpPr>
        <p:spPr>
          <a:xfrm>
            <a:off x="2377440" y="3977640"/>
            <a:ext cx="7436815" cy="2011680"/>
          </a:xfrm>
          <a:prstGeom prst="rect">
            <a:avLst/>
          </a:prstGeom>
          <a:noFill/>
          <a:ln/>
        </p:spPr>
        <p:txBody>
          <a:bodyPr wrap="square" rtlCol="0" anchor="t"/>
          <a:lstStyle/>
          <a:p>
            <a:pPr marL="228600" indent="-228600">
              <a:lnSpc>
                <a:spcPct val="125000"/>
              </a:lnSpc>
              <a:spcAft>
                <a:spcPts val="1000"/>
              </a:spcAft>
              <a:buSzPct val="100000"/>
              <a:buChar char="◆"/>
            </a:pPr>
            <a:r>
              <a:rPr lang="en-US" sz="1500" dirty="0">
                <a:solidFill>
                  <a:srgbClr val="E7DCC2"/>
                </a:solidFill>
                <a:latin typeface="Calibri" pitchFamily="34" charset="0"/>
                <a:ea typeface="Calibri" pitchFamily="34" charset="-122"/>
                <a:cs typeface="Calibri" pitchFamily="34" charset="-120"/>
              </a:rPr>
              <a:t>Malam ini, evaluasi ulang ‘aqliyah dan nafsiyah pribadimu.</a:t>
            </a:r>
            <a:endParaRPr lang="en-US" sz="1500" dirty="0"/>
          </a:p>
          <a:p>
            <a:pPr marL="228600" indent="-228600">
              <a:lnSpc>
                <a:spcPct val="125000"/>
              </a:lnSpc>
              <a:spcAft>
                <a:spcPts val="1000"/>
              </a:spcAft>
              <a:buSzPct val="100000"/>
              <a:buChar char="◆"/>
            </a:pPr>
            <a:r>
              <a:rPr lang="en-US" sz="1500" dirty="0">
                <a:solidFill>
                  <a:srgbClr val="E7DCC2"/>
                </a:solidFill>
                <a:latin typeface="Calibri" pitchFamily="34" charset="0"/>
                <a:ea typeface="Calibri" pitchFamily="34" charset="-122"/>
                <a:cs typeface="Calibri" pitchFamily="34" charset="-120"/>
              </a:rPr>
              <a:t>Mulai hari ini, berkomitmenlah menjadikan Akidah Islam sebagai satu-satunya standar — bukan cuma dalam ibadah, tapi dalam setiap keputusan dan sikap.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Syakhshiyah dan Syakhshiyah Islamiyyah</dc:title>
  <dc:subject>PptxGenJS Presentation</dc:subject>
  <dc:creator>Nizam App</dc:creator>
  <cp:lastModifiedBy>Nizam App</cp:lastModifiedBy>
  <cp:revision>1</cp:revision>
  <dcterms:created xsi:type="dcterms:W3CDTF">2026-08-03T15:22:16Z</dcterms:created>
  <dcterms:modified xsi:type="dcterms:W3CDTF">2026-08-03T15:22:16Z</dcterms:modified>
</cp:coreProperties>
</file>